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Presentar el deck como un caso real, no teoría abstracta. Unidos por GPS es una empresa peruana de seguridad vehicular — construimos su web completa aplicando SDD de principio a fin. Hoy vamos a mirar el proceso por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vibe coding es el estado por defecto cuando se usa IA sin metodología: el agente hace, el humano acepta. Resultado: código que nadie entiende del todo y decisiones que nadie puede auditar. SDD invierte el flujo: la intención humana manda, la IA ejecuta.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variantes de SDD según madurez del equipo y proyecto. En Unidos por GPS usamos las tres en distintos momentos: spec-first para los requerimientos funcionales, spec-anchor para los cambios de diseño visual (T37), y spec-as-source en el CLAUDE.md que guió todo el desarrollo.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cambio más importante de SDD no es técnico, es de mentalidad. El desarrollador deja de ser el que implementa y pasa a ser el que dirige. La IA es el brazo ejecutor — pero el cerebro sigue siendo humano.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contexto del caso: empresa real, presupuesto real, presión de tiempo real. El sitio Odoo funcionaba pero estaba frenando la conversión. El nuevo sitio se construyó en producción en Vercel en pocas semanas, aplicando SDD de principio 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capa alimenta a la siguiente. La spec no se escribe una vez y se olvida — se actualiza cuando cambia la intención. El code es siempre consecuencia, nunca causa.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anatomía de una tarea en specs/03-tasks.md. El desarrollador la escribe antes de abrir Claude Code. El agente recibe el plan, el desarrollador lo aprueba, y solo entonces se ejecuta. Los archivos permitidos actúan como un contrato de alcance — previenen el scope creep.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no son objetivos — son los resultados reales medidos en producción con PageSpeed Insights. Performance 99, Accessibility 96, Best Practices 100, SEO 100. La metodología SDD no es solo orden: produce calidad técnica medible.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lecciones reales, no construidas para la presentación. Cada una tiene un número de tarea asociado — esa trazabilidad es uno de los beneficios de SDD.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stack cognitivo de SDD no depende de un framework específico — funciona con cualquier lenguaje y cualquier agente. Lo que sí depende es de la disciplina del equipo para respetar el gate humano en cada tarea.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mensaje central: SDD no es burocracia — es lo que separa el desarrollo profesional del vibe coding. El caso Unidos por GPS es la prueba de que funciona en condiciones reales. Invitar al equipo a aplicarlo en el próximo proyecto y comparar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Shape 0"/>
          <p:cNvSpPr/>
          <p:nvPr/>
        </p:nvSpPr>
        <p:spPr>
          <a:xfrm>
            <a:off x="7498080" y="-548640"/>
            <a:ext cx="2560320" cy="2560320"/>
          </a:xfrm>
          <a:prstGeom prst="ellipse">
            <a:avLst/>
          </a:prstGeom>
          <a:solidFill>
            <a:srgbClr val="0D2F48"/>
          </a:solidFill>
          <a:ln w="12700">
            <a:solidFill>
              <a:srgbClr val="0F3560"/>
            </a:solidFill>
            <a:prstDash val="solid"/>
          </a:ln>
        </p:spPr>
      </p:sp>
      <p:sp>
        <p:nvSpPr>
          <p:cNvPr id="3" name="Shape 1"/>
          <p:cNvSpPr/>
          <p:nvPr/>
        </p:nvSpPr>
        <p:spPr>
          <a:xfrm>
            <a:off x="0" y="0"/>
            <a:ext cx="54864" cy="5143500"/>
          </a:xfrm>
          <a:prstGeom prst="rect">
            <a:avLst/>
          </a:prstGeom>
          <a:solidFill>
            <a:srgbClr val="123C6E"/>
          </a:solidFill>
          <a:ln w="12700">
            <a:solidFill>
              <a:srgbClr val="123C6E"/>
            </a:solidFill>
            <a:prstDash val="solid"/>
          </a:ln>
        </p:spPr>
      </p:sp>
      <p:sp>
        <p:nvSpPr>
          <p:cNvPr id="4" name="Text 2"/>
          <p:cNvSpPr/>
          <p:nvPr/>
        </p:nvSpPr>
        <p:spPr>
          <a:xfrm>
            <a:off x="457200" y="502920"/>
            <a:ext cx="8229600" cy="320040"/>
          </a:xfrm>
          <a:prstGeom prst="rect">
            <a:avLst/>
          </a:prstGeom>
          <a:noFill/>
          <a:ln/>
        </p:spPr>
        <p:txBody>
          <a:bodyPr wrap="square" lIns="0" tIns="0" rIns="0" bIns="0" rtlCol="0" anchor="ctr"/>
          <a:lstStyle/>
          <a:p>
            <a:pPr indent="0" marL="0">
              <a:buNone/>
            </a:pPr>
            <a:r>
              <a:rPr lang="en-US" sz="900" spc="300" kern="0" dirty="0">
                <a:solidFill>
                  <a:srgbClr val="6A95D6"/>
                </a:solidFill>
                <a:latin typeface="Calibri" pitchFamily="34" charset="0"/>
                <a:ea typeface="Calibri" pitchFamily="34" charset="-122"/>
                <a:cs typeface="Calibri" pitchFamily="34" charset="-120"/>
              </a:rPr>
              <a:t>DACTA · INGENIERÍA ASISTIDA POR IA</a:t>
            </a:r>
            <a:endParaRPr lang="en-US" sz="900" dirty="0"/>
          </a:p>
        </p:txBody>
      </p:sp>
      <p:sp>
        <p:nvSpPr>
          <p:cNvPr id="5" name="Text 3"/>
          <p:cNvSpPr/>
          <p:nvPr/>
        </p:nvSpPr>
        <p:spPr>
          <a:xfrm>
            <a:off x="457200" y="914400"/>
            <a:ext cx="6858000" cy="201168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Spec-Driven</a:t>
            </a:r>
            <a:endParaRPr lang="en-US" sz="5200" dirty="0"/>
          </a:p>
          <a:p>
            <a:pPr indent="0" marL="0">
              <a:buNone/>
            </a:pPr>
            <a:r>
              <a:rPr lang="en-US" sz="5200" b="1" dirty="0">
                <a:solidFill>
                  <a:srgbClr val="FFFFFF"/>
                </a:solidFill>
                <a:latin typeface="Cambria" pitchFamily="34" charset="0"/>
                <a:ea typeface="Cambria" pitchFamily="34" charset="-122"/>
                <a:cs typeface="Cambria" pitchFamily="34" charset="-120"/>
              </a:rPr>
              <a:t>Development</a:t>
            </a:r>
            <a:endParaRPr lang="en-US" sz="5200" dirty="0"/>
          </a:p>
        </p:txBody>
      </p:sp>
      <p:sp>
        <p:nvSpPr>
          <p:cNvPr id="6" name="Text 4"/>
          <p:cNvSpPr/>
          <p:nvPr/>
        </p:nvSpPr>
        <p:spPr>
          <a:xfrm>
            <a:off x="457200" y="2971800"/>
            <a:ext cx="6400800" cy="502920"/>
          </a:xfrm>
          <a:prstGeom prst="rect">
            <a:avLst/>
          </a:prstGeom>
          <a:noFill/>
          <a:ln/>
        </p:spPr>
        <p:txBody>
          <a:bodyPr wrap="square" lIns="0" tIns="0" rIns="0" bIns="0" rtlCol="0" anchor="ctr"/>
          <a:lstStyle/>
          <a:p>
            <a:pPr indent="0" marL="0">
              <a:buNone/>
            </a:pPr>
            <a:r>
              <a:rPr lang="en-US" sz="1700" dirty="0">
                <a:solidFill>
                  <a:srgbClr val="6A95D6"/>
                </a:solidFill>
                <a:latin typeface="Calibri" pitchFamily="34" charset="0"/>
                <a:ea typeface="Calibri" pitchFamily="34" charset="-122"/>
                <a:cs typeface="Calibri" pitchFamily="34" charset="-120"/>
              </a:rPr>
              <a:t>Del «vibe coding» a la ingeniería profesional con IA</a:t>
            </a:r>
            <a:endParaRPr lang="en-US" sz="1700" dirty="0"/>
          </a:p>
        </p:txBody>
      </p:sp>
      <p:sp>
        <p:nvSpPr>
          <p:cNvPr id="7" name="Shape 5"/>
          <p:cNvSpPr/>
          <p:nvPr/>
        </p:nvSpPr>
        <p:spPr>
          <a:xfrm>
            <a:off x="457200" y="2743200"/>
            <a:ext cx="3200400" cy="36576"/>
          </a:xfrm>
          <a:prstGeom prst="rect">
            <a:avLst/>
          </a:prstGeom>
          <a:solidFill>
            <a:srgbClr val="123C6E"/>
          </a:solidFill>
          <a:ln w="12700">
            <a:solidFill>
              <a:srgbClr val="123C6E"/>
            </a:solidFill>
            <a:prstDash val="solid"/>
          </a:ln>
        </p:spPr>
      </p:sp>
      <p:sp>
        <p:nvSpPr>
          <p:cNvPr id="8" name="Shape 6"/>
          <p:cNvSpPr/>
          <p:nvPr/>
        </p:nvSpPr>
        <p:spPr>
          <a:xfrm>
            <a:off x="457200" y="3657600"/>
            <a:ext cx="3108960" cy="457200"/>
          </a:xfrm>
          <a:prstGeom prst="roundRect">
            <a:avLst>
              <a:gd name="adj" fmla="val 12000"/>
            </a:avLst>
          </a:prstGeom>
          <a:solidFill>
            <a:srgbClr val="0F3560"/>
          </a:solidFill>
          <a:ln w="12700">
            <a:solidFill>
              <a:srgbClr val="123C6E"/>
            </a:solidFill>
            <a:prstDash val="solid"/>
          </a:ln>
        </p:spPr>
      </p:sp>
      <p:sp>
        <p:nvSpPr>
          <p:cNvPr id="9" name="Text 7"/>
          <p:cNvSpPr/>
          <p:nvPr/>
        </p:nvSpPr>
        <p:spPr>
          <a:xfrm>
            <a:off x="457200" y="3657600"/>
            <a:ext cx="3108960" cy="457200"/>
          </a:xfrm>
          <a:prstGeom prst="rect">
            <a:avLst/>
          </a:prstGeom>
          <a:noFill/>
          <a:ln/>
        </p:spPr>
        <p:txBody>
          <a:bodyPr wrap="square" lIns="0" tIns="0" rIns="0" bIns="0" rtlCol="0" anchor="ctr"/>
          <a:lstStyle/>
          <a:p>
            <a:pPr algn="ctr" indent="0" marL="0">
              <a:buNone/>
            </a:pPr>
            <a:r>
              <a:rPr lang="en-US" sz="1000" dirty="0">
                <a:solidFill>
                  <a:srgbClr val="6A95D6"/>
                </a:solidFill>
                <a:latin typeface="Calibri" pitchFamily="34" charset="0"/>
                <a:ea typeface="Calibri" pitchFamily="34" charset="-122"/>
                <a:cs typeface="Calibri" pitchFamily="34" charset="-120"/>
              </a:rPr>
              <a:t>Caso real: Unidos por GPS · Next.js 14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900" spc="200" kern="0" dirty="0">
                <a:solidFill>
                  <a:srgbClr val="6B7280"/>
                </a:solidFill>
                <a:latin typeface="Calibri" pitchFamily="34" charset="0"/>
                <a:ea typeface="Calibri" pitchFamily="34" charset="-122"/>
                <a:cs typeface="Calibri" pitchFamily="34" charset="-120"/>
              </a:rPr>
              <a:t>01 · EL PROBLEMA</a:t>
            </a:r>
            <a:endParaRPr lang="en-US" sz="900" dirty="0"/>
          </a:p>
        </p:txBody>
      </p:sp>
      <p:sp>
        <p:nvSpPr>
          <p:cNvPr id="3" name="Text 1"/>
          <p:cNvSpPr/>
          <p:nvPr/>
        </p:nvSpPr>
        <p:spPr>
          <a:xfrm>
            <a:off x="457200" y="594360"/>
            <a:ext cx="8229600" cy="685800"/>
          </a:xfrm>
          <a:prstGeom prst="rect">
            <a:avLst/>
          </a:prstGeom>
          <a:noFill/>
          <a:ln/>
        </p:spPr>
        <p:txBody>
          <a:bodyPr wrap="square" lIns="0" tIns="0" rIns="0" bIns="0" rtlCol="0" anchor="ctr"/>
          <a:lstStyle/>
          <a:p>
            <a:pPr indent="0" marL="0">
              <a:buNone/>
            </a:pPr>
            <a:r>
              <a:rPr lang="en-US" sz="2800" b="1" dirty="0">
                <a:solidFill>
                  <a:srgbClr val="111827"/>
                </a:solidFill>
                <a:latin typeface="Cambria" pitchFamily="34" charset="0"/>
                <a:ea typeface="Cambria" pitchFamily="34" charset="-122"/>
                <a:cs typeface="Cambria" pitchFamily="34" charset="-120"/>
              </a:rPr>
              <a:t>El «vibe coding» y la deuda oculta</a:t>
            </a:r>
            <a:endParaRPr lang="en-US" sz="2800" dirty="0"/>
          </a:p>
        </p:txBody>
      </p:sp>
      <p:sp>
        <p:nvSpPr>
          <p:cNvPr id="4" name="Shape 2"/>
          <p:cNvSpPr/>
          <p:nvPr/>
        </p:nvSpPr>
        <p:spPr>
          <a:xfrm>
            <a:off x="365760" y="1417320"/>
            <a:ext cx="3931920" cy="3291840"/>
          </a:xfrm>
          <a:prstGeom prst="roundRect">
            <a:avLst>
              <a:gd name="adj" fmla="val 2778"/>
            </a:avLst>
          </a:prstGeom>
          <a:solidFill>
            <a:srgbClr val="FFFFFF"/>
          </a:solidFill>
          <a:ln w="12700">
            <a:solidFill>
              <a:srgbClr val="D1D5DB"/>
            </a:solidFill>
            <a:prstDash val="solid"/>
          </a:ln>
          <a:effectLst>
            <a:outerShdw sx="100000" sy="100000" kx="0" ky="0" algn="bl" rotWithShape="0" blurRad="101600" dist="38100" dir="2700000">
              <a:srgbClr val="000000">
                <a:alpha val="14000"/>
              </a:srgbClr>
            </a:outerShdw>
          </a:effectLst>
        </p:spPr>
      </p:sp>
      <p:sp>
        <p:nvSpPr>
          <p:cNvPr id="5" name="Text 3"/>
          <p:cNvSpPr/>
          <p:nvPr/>
        </p:nvSpPr>
        <p:spPr>
          <a:xfrm>
            <a:off x="502920" y="1554480"/>
            <a:ext cx="3566160" cy="365760"/>
          </a:xfrm>
          <a:prstGeom prst="rect">
            <a:avLst/>
          </a:prstGeom>
          <a:noFill/>
          <a:ln/>
        </p:spPr>
        <p:txBody>
          <a:bodyPr wrap="square" lIns="0" tIns="0" rIns="0" bIns="0" rtlCol="0" anchor="ctr"/>
          <a:lstStyle/>
          <a:p>
            <a:pPr indent="0" marL="0">
              <a:buNone/>
            </a:pPr>
            <a:r>
              <a:rPr lang="en-US" sz="1300" b="1" dirty="0">
                <a:solidFill>
                  <a:srgbClr val="DD0303"/>
                </a:solidFill>
                <a:latin typeface="Calibri" pitchFamily="34" charset="0"/>
                <a:ea typeface="Calibri" pitchFamily="34" charset="-122"/>
                <a:cs typeface="Calibri" pitchFamily="34" charset="-120"/>
              </a:rPr>
              <a:t>⚠  Vibe Coding</a:t>
            </a:r>
            <a:endParaRPr lang="en-US" sz="1300" dirty="0"/>
          </a:p>
        </p:txBody>
      </p:sp>
      <p:sp>
        <p:nvSpPr>
          <p:cNvPr id="6" name="Text 4"/>
          <p:cNvSpPr/>
          <p:nvPr/>
        </p:nvSpPr>
        <p:spPr>
          <a:xfrm>
            <a:off x="548640" y="2011680"/>
            <a:ext cx="3566160" cy="2560320"/>
          </a:xfrm>
          <a:prstGeom prst="rect">
            <a:avLst/>
          </a:prstGeom>
          <a:noFill/>
          <a:ln/>
        </p:spPr>
        <p:txBody>
          <a:bodyPr wrap="square" rtlCol="0" anchor="ctr"/>
          <a:lstStyle/>
          <a:p>
            <a:pPr marL="342900" indent="-342900">
              <a:spcAft>
                <a:spcPts val="600"/>
              </a:spcAft>
              <a:buSzPct val="100000"/>
              <a:buChar char="•"/>
            </a:pPr>
            <a:r>
              <a:rPr lang="en-US" sz="1200" dirty="0">
                <a:solidFill>
                  <a:srgbClr val="374151"/>
                </a:solidFill>
                <a:latin typeface="Calibri" pitchFamily="34" charset="0"/>
                <a:ea typeface="Calibri" pitchFamily="34" charset="-122"/>
                <a:cs typeface="Calibri" pitchFamily="34" charset="-120"/>
              </a:rPr>
              <a:t>El agente toma decisiones de arquitectura sin contexto real</a:t>
            </a:r>
            <a:endParaRPr lang="en-US" sz="1200" dirty="0"/>
          </a:p>
          <a:p>
            <a:pPr marL="342900" indent="-342900">
              <a:spcAft>
                <a:spcPts val="600"/>
              </a:spcAft>
              <a:buSzPct val="100000"/>
              <a:buChar char="•"/>
            </a:pPr>
            <a:r>
              <a:rPr lang="en-US" sz="1200" dirty="0">
                <a:solidFill>
                  <a:srgbClr val="374151"/>
                </a:solidFill>
                <a:latin typeface="Calibri" pitchFamily="34" charset="0"/>
                <a:ea typeface="Calibri" pitchFamily="34" charset="-122"/>
                <a:cs typeface="Calibri" pitchFamily="34" charset="-120"/>
              </a:rPr>
              <a:t>Sin especificación → rework costoso al cambiar de opinión</a:t>
            </a:r>
            <a:endParaRPr lang="en-US" sz="1200" dirty="0"/>
          </a:p>
          <a:p>
            <a:pPr marL="342900" indent="-342900">
              <a:spcAft>
                <a:spcPts val="600"/>
              </a:spcAft>
              <a:buSzPct val="100000"/>
              <a:buChar char="•"/>
            </a:pPr>
            <a:r>
              <a:rPr lang="en-US" sz="1200" dirty="0">
                <a:solidFill>
                  <a:srgbClr val="374151"/>
                </a:solidFill>
                <a:latin typeface="Calibri" pitchFamily="34" charset="0"/>
                <a:ea typeface="Calibri" pitchFamily="34" charset="-122"/>
                <a:cs typeface="Calibri" pitchFamily="34" charset="-120"/>
              </a:rPr>
              <a:t>Output no verificable: ¿el código hace lo que pensamos?</a:t>
            </a:r>
            <a:endParaRPr lang="en-US" sz="1200" dirty="0"/>
          </a:p>
          <a:p>
            <a:pPr marL="342900" indent="-342900">
              <a:spcAft>
                <a:spcPts val="600"/>
              </a:spcAft>
              <a:buSzPct val="100000"/>
              <a:buChar char="•"/>
            </a:pPr>
            <a:r>
              <a:rPr lang="en-US" sz="1200" dirty="0">
                <a:solidFill>
                  <a:srgbClr val="374151"/>
                </a:solidFill>
                <a:latin typeface="Calibri" pitchFamily="34" charset="0"/>
                <a:ea typeface="Calibri" pitchFamily="34" charset="-122"/>
                <a:cs typeface="Calibri" pitchFamily="34" charset="-120"/>
              </a:rPr>
              <a:t>Acumulación de deuda técnica silenciosa tras cada sesión</a:t>
            </a:r>
            <a:endParaRPr lang="en-US" sz="1200" dirty="0"/>
          </a:p>
          <a:p>
            <a:pPr marL="342900" indent="-342900">
              <a:spcAft>
                <a:spcPts val="600"/>
              </a:spcAft>
              <a:buSzPct val="100000"/>
              <a:buChar char="•"/>
            </a:pPr>
            <a:r>
              <a:rPr lang="en-US" sz="1200" dirty="0">
                <a:solidFill>
                  <a:srgbClr val="374151"/>
                </a:solidFill>
                <a:latin typeface="Calibri" pitchFamily="34" charset="0"/>
                <a:ea typeface="Calibri" pitchFamily="34" charset="-122"/>
                <a:cs typeface="Calibri" pitchFamily="34" charset="-120"/>
              </a:rPr>
              <a:t>El humano pierde el hilo: «¿qué hicimos ayer?»</a:t>
            </a:r>
            <a:endParaRPr lang="en-US" sz="1200" dirty="0"/>
          </a:p>
        </p:txBody>
      </p:sp>
      <p:sp>
        <p:nvSpPr>
          <p:cNvPr id="7" name="Shape 5"/>
          <p:cNvSpPr/>
          <p:nvPr/>
        </p:nvSpPr>
        <p:spPr>
          <a:xfrm>
            <a:off x="4572000" y="1417320"/>
            <a:ext cx="3931920" cy="3291840"/>
          </a:xfrm>
          <a:prstGeom prst="roundRect">
            <a:avLst>
              <a:gd name="adj" fmla="val 2778"/>
            </a:avLst>
          </a:prstGeom>
          <a:solidFill>
            <a:srgbClr val="0A192F"/>
          </a:solidFill>
          <a:ln w="12700">
            <a:solidFill>
              <a:srgbClr val="0F3560"/>
            </a:solidFill>
            <a:prstDash val="solid"/>
          </a:ln>
          <a:effectLst>
            <a:outerShdw sx="100000" sy="100000" kx="0" ky="0" algn="bl" rotWithShape="0" blurRad="101600" dist="38100" dir="2700000">
              <a:srgbClr val="000000">
                <a:alpha val="14000"/>
              </a:srgbClr>
            </a:outerShdw>
          </a:effectLst>
        </p:spPr>
      </p:sp>
      <p:sp>
        <p:nvSpPr>
          <p:cNvPr id="8" name="Text 6"/>
          <p:cNvSpPr/>
          <p:nvPr/>
        </p:nvSpPr>
        <p:spPr>
          <a:xfrm>
            <a:off x="4709160" y="1554480"/>
            <a:ext cx="3566160" cy="365760"/>
          </a:xfrm>
          <a:prstGeom prst="rect">
            <a:avLst/>
          </a:prstGeom>
          <a:noFill/>
          <a:ln/>
        </p:spPr>
        <p:txBody>
          <a:bodyPr wrap="square" lIns="0" tIns="0" rIns="0" bIns="0" rtlCol="0" anchor="ctr"/>
          <a:lstStyle/>
          <a:p>
            <a:pPr indent="0" marL="0">
              <a:buNone/>
            </a:pPr>
            <a:r>
              <a:rPr lang="en-US" sz="1300" b="1" dirty="0">
                <a:solidFill>
                  <a:srgbClr val="6A95D6"/>
                </a:solidFill>
                <a:latin typeface="Calibri" pitchFamily="34" charset="0"/>
                <a:ea typeface="Calibri" pitchFamily="34" charset="-122"/>
                <a:cs typeface="Calibri" pitchFamily="34" charset="-120"/>
              </a:rPr>
              <a:t>✓  Ingeniería con IA (SDD)</a:t>
            </a:r>
            <a:endParaRPr lang="en-US" sz="1300" dirty="0"/>
          </a:p>
        </p:txBody>
      </p:sp>
      <p:sp>
        <p:nvSpPr>
          <p:cNvPr id="9" name="Text 7"/>
          <p:cNvSpPr/>
          <p:nvPr/>
        </p:nvSpPr>
        <p:spPr>
          <a:xfrm>
            <a:off x="4709160" y="2011680"/>
            <a:ext cx="3566160" cy="2560320"/>
          </a:xfrm>
          <a:prstGeom prst="rect">
            <a:avLst/>
          </a:prstGeom>
          <a:noFill/>
          <a:ln/>
        </p:spPr>
        <p:txBody>
          <a:bodyPr wrap="square" rtlCol="0" anchor="ctr"/>
          <a:lstStyle/>
          <a:p>
            <a:pPr marL="342900" indent="-342900">
              <a:spcAft>
                <a:spcPts val="600"/>
              </a:spcAft>
              <a:buSzPct val="100000"/>
              <a:buChar char="•"/>
            </a:pPr>
            <a:r>
              <a:rPr lang="en-US" sz="1200" dirty="0">
                <a:solidFill>
                  <a:srgbClr val="D5E4F5"/>
                </a:solidFill>
                <a:latin typeface="Calibri" pitchFamily="34" charset="0"/>
                <a:ea typeface="Calibri" pitchFamily="34" charset="-122"/>
                <a:cs typeface="Calibri" pitchFamily="34" charset="-120"/>
              </a:rPr>
              <a:t>La especificación es la fuente de verdad, no el chat</a:t>
            </a:r>
            <a:endParaRPr lang="en-US" sz="1200" dirty="0"/>
          </a:p>
          <a:p>
            <a:pPr marL="342900" indent="-342900">
              <a:spcAft>
                <a:spcPts val="600"/>
              </a:spcAft>
              <a:buSzPct val="100000"/>
              <a:buChar char="•"/>
            </a:pPr>
            <a:r>
              <a:rPr lang="en-US" sz="1200" dirty="0">
                <a:solidFill>
                  <a:srgbClr val="D5E4F5"/>
                </a:solidFill>
                <a:latin typeface="Calibri" pitchFamily="34" charset="0"/>
                <a:ea typeface="Calibri" pitchFamily="34" charset="-122"/>
                <a:cs typeface="Calibri" pitchFamily="34" charset="-120"/>
              </a:rPr>
              <a:t>El humano aprueba cada hito antes de ejecutar</a:t>
            </a:r>
            <a:endParaRPr lang="en-US" sz="1200" dirty="0"/>
          </a:p>
          <a:p>
            <a:pPr marL="342900" indent="-342900">
              <a:spcAft>
                <a:spcPts val="600"/>
              </a:spcAft>
              <a:buSzPct val="100000"/>
              <a:buChar char="•"/>
            </a:pPr>
            <a:r>
              <a:rPr lang="en-US" sz="1200" dirty="0">
                <a:solidFill>
                  <a:srgbClr val="D5E4F5"/>
                </a:solidFill>
                <a:latin typeface="Calibri" pitchFamily="34" charset="0"/>
                <a:ea typeface="Calibri" pitchFamily="34" charset="-122"/>
                <a:cs typeface="Calibri" pitchFamily="34" charset="-120"/>
              </a:rPr>
              <a:t>Código trazable: cada archivo tiene una razón documentada</a:t>
            </a:r>
            <a:endParaRPr lang="en-US" sz="1200" dirty="0"/>
          </a:p>
          <a:p>
            <a:pPr marL="342900" indent="-342900">
              <a:spcAft>
                <a:spcPts val="600"/>
              </a:spcAft>
              <a:buSzPct val="100000"/>
              <a:buChar char="•"/>
            </a:pPr>
            <a:r>
              <a:rPr lang="en-US" sz="1200" dirty="0">
                <a:solidFill>
                  <a:srgbClr val="D5E4F5"/>
                </a:solidFill>
                <a:latin typeface="Calibri" pitchFamily="34" charset="0"/>
                <a:ea typeface="Calibri" pitchFamily="34" charset="-122"/>
                <a:cs typeface="Calibri" pitchFamily="34" charset="-120"/>
              </a:rPr>
              <a:t>Commits auditables: T01, T02 … T38 — historia del proyecto</a:t>
            </a:r>
            <a:endParaRPr lang="en-US" sz="1200" dirty="0"/>
          </a:p>
          <a:p>
            <a:pPr marL="342900" indent="-342900">
              <a:spcAft>
                <a:spcPts val="600"/>
              </a:spcAft>
              <a:buSzPct val="100000"/>
              <a:buChar char="•"/>
            </a:pPr>
            <a:r>
              <a:rPr lang="en-US" sz="1200" dirty="0">
                <a:solidFill>
                  <a:srgbClr val="D5E4F5"/>
                </a:solidFill>
                <a:latin typeface="Calibri" pitchFamily="34" charset="0"/>
                <a:ea typeface="Calibri" pitchFamily="34" charset="-122"/>
                <a:cs typeface="Calibri" pitchFamily="34" charset="-120"/>
              </a:rPr>
              <a:t>El desarrollador es arquitecto, no picador de código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D1C"/>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900" spc="200" kern="0" dirty="0">
                <a:solidFill>
                  <a:srgbClr val="6A95D6"/>
                </a:solidFill>
                <a:latin typeface="Calibri" pitchFamily="34" charset="0"/>
                <a:ea typeface="Calibri" pitchFamily="34" charset="-122"/>
                <a:cs typeface="Calibri" pitchFamily="34" charset="-120"/>
              </a:rPr>
              <a:t>02 · DEFINICIÓN</a:t>
            </a:r>
            <a:endParaRPr lang="en-US" sz="900" dirty="0"/>
          </a:p>
        </p:txBody>
      </p:sp>
      <p:sp>
        <p:nvSpPr>
          <p:cNvPr id="3" name="Text 1"/>
          <p:cNvSpPr/>
          <p:nvPr/>
        </p:nvSpPr>
        <p:spPr>
          <a:xfrm>
            <a:off x="457200" y="59436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Spec-Driven Development</a:t>
            </a:r>
            <a:endParaRPr lang="en-US" sz="3200" dirty="0"/>
          </a:p>
        </p:txBody>
      </p:sp>
      <p:sp>
        <p:nvSpPr>
          <p:cNvPr id="4" name="Text 2"/>
          <p:cNvSpPr/>
          <p:nvPr/>
        </p:nvSpPr>
        <p:spPr>
          <a:xfrm>
            <a:off x="457200" y="1188720"/>
            <a:ext cx="8229600" cy="365760"/>
          </a:xfrm>
          <a:prstGeom prst="rect">
            <a:avLst/>
          </a:prstGeom>
          <a:noFill/>
          <a:ln/>
        </p:spPr>
        <p:txBody>
          <a:bodyPr wrap="square" lIns="0" tIns="0" rIns="0" bIns="0" rtlCol="0" anchor="ctr"/>
          <a:lstStyle/>
          <a:p>
            <a:pPr indent="0" marL="0">
              <a:buNone/>
            </a:pPr>
            <a:r>
              <a:rPr lang="en-US" sz="1400" dirty="0">
                <a:solidFill>
                  <a:srgbClr val="6A95D6"/>
                </a:solidFill>
                <a:latin typeface="Calibri" pitchFamily="34" charset="0"/>
                <a:ea typeface="Calibri" pitchFamily="34" charset="-122"/>
                <a:cs typeface="Calibri" pitchFamily="34" charset="-120"/>
              </a:rPr>
              <a:t>La especificación es la fuente de verdad. El código es consecuencia.</a:t>
            </a:r>
            <a:endParaRPr lang="en-US" sz="1400" dirty="0"/>
          </a:p>
        </p:txBody>
      </p:sp>
      <p:sp>
        <p:nvSpPr>
          <p:cNvPr id="5" name="Shape 3"/>
          <p:cNvSpPr/>
          <p:nvPr/>
        </p:nvSpPr>
        <p:spPr>
          <a:xfrm>
            <a:off x="320040" y="1691640"/>
            <a:ext cx="2697480" cy="3063240"/>
          </a:xfrm>
          <a:prstGeom prst="roundRect">
            <a:avLst>
              <a:gd name="adj" fmla="val 3390"/>
            </a:avLst>
          </a:prstGeom>
          <a:solidFill>
            <a:srgbClr val="0D2F48"/>
          </a:solidFill>
          <a:ln w="12700">
            <a:solidFill>
              <a:srgbClr val="214E9F"/>
            </a:solidFill>
            <a:prstDash val="solid"/>
          </a:ln>
        </p:spPr>
      </p:sp>
      <p:sp>
        <p:nvSpPr>
          <p:cNvPr id="6" name="Shape 4"/>
          <p:cNvSpPr/>
          <p:nvPr/>
        </p:nvSpPr>
        <p:spPr>
          <a:xfrm>
            <a:off x="457200" y="1783080"/>
            <a:ext cx="384048" cy="384048"/>
          </a:xfrm>
          <a:prstGeom prst="ellipse">
            <a:avLst/>
          </a:prstGeom>
          <a:solidFill>
            <a:srgbClr val="214E9F"/>
          </a:solidFill>
          <a:ln w="12700">
            <a:solidFill>
              <a:srgbClr val="214E9F"/>
            </a:solidFill>
            <a:prstDash val="solid"/>
          </a:ln>
        </p:spPr>
      </p:sp>
      <p:sp>
        <p:nvSpPr>
          <p:cNvPr id="7" name="Text 5"/>
          <p:cNvSpPr/>
          <p:nvPr/>
        </p:nvSpPr>
        <p:spPr>
          <a:xfrm>
            <a:off x="457200" y="1783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914400" y="1801368"/>
            <a:ext cx="1965960" cy="34747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Spec-First</a:t>
            </a:r>
            <a:endParaRPr lang="en-US" sz="1300" dirty="0"/>
          </a:p>
        </p:txBody>
      </p:sp>
      <p:sp>
        <p:nvSpPr>
          <p:cNvPr id="9" name="Text 7"/>
          <p:cNvSpPr/>
          <p:nvPr/>
        </p:nvSpPr>
        <p:spPr>
          <a:xfrm>
            <a:off x="457200" y="2240280"/>
            <a:ext cx="2423160" cy="347472"/>
          </a:xfrm>
          <a:prstGeom prst="rect">
            <a:avLst/>
          </a:prstGeom>
          <a:noFill/>
          <a:ln/>
        </p:spPr>
        <p:txBody>
          <a:bodyPr wrap="square" lIns="0" tIns="0" rIns="0" bIns="0" rtlCol="0" anchor="ctr"/>
          <a:lstStyle/>
          <a:p>
            <a:pPr indent="0" marL="0">
              <a:buNone/>
            </a:pPr>
            <a:r>
              <a:rPr lang="en-US" sz="1000" b="1" dirty="0">
                <a:solidFill>
                  <a:srgbClr val="6A95D6"/>
                </a:solidFill>
                <a:latin typeface="Calibri" pitchFamily="34" charset="0"/>
                <a:ea typeface="Calibri" pitchFamily="34" charset="-122"/>
                <a:cs typeface="Calibri" pitchFamily="34" charset="-120"/>
              </a:rPr>
              <a:t>La spec existe ANTES del código</a:t>
            </a:r>
            <a:endParaRPr lang="en-US" sz="1000" dirty="0"/>
          </a:p>
        </p:txBody>
      </p:sp>
      <p:sp>
        <p:nvSpPr>
          <p:cNvPr id="10" name="Text 8"/>
          <p:cNvSpPr/>
          <p:nvPr/>
        </p:nvSpPr>
        <p:spPr>
          <a:xfrm>
            <a:off x="457200" y="2633472"/>
            <a:ext cx="2423160" cy="2011680"/>
          </a:xfrm>
          <a:prstGeom prst="rect">
            <a:avLst/>
          </a:prstGeom>
          <a:noFill/>
          <a:ln/>
        </p:spPr>
        <p:txBody>
          <a:bodyPr wrap="square" lIns="0" tIns="0" rIns="0" bIns="0" rtlCol="0" anchor="ctr"/>
          <a:lstStyle/>
          <a:p>
            <a:pPr indent="0" marL="0">
              <a:buNone/>
            </a:pPr>
            <a:r>
              <a:rPr lang="en-US" sz="1100" dirty="0">
                <a:solidFill>
                  <a:srgbClr val="D5E4F5"/>
                </a:solidFill>
                <a:latin typeface="Calibri" pitchFamily="34" charset="0"/>
                <a:ea typeface="Calibri" pitchFamily="34" charset="-122"/>
                <a:cs typeface="Calibri" pitchFamily="34" charset="-120"/>
              </a:rPr>
              <a:t>Requerimientos, diseño y backlog atómico redactados y aprobados antes de escribir una sola línea. El LLM ejecuta una spec que ya fue revisada por humanos.</a:t>
            </a:r>
            <a:endParaRPr lang="en-US" sz="1100" dirty="0"/>
          </a:p>
        </p:txBody>
      </p:sp>
      <p:sp>
        <p:nvSpPr>
          <p:cNvPr id="11" name="Shape 9"/>
          <p:cNvSpPr/>
          <p:nvPr/>
        </p:nvSpPr>
        <p:spPr>
          <a:xfrm>
            <a:off x="3200400" y="1691640"/>
            <a:ext cx="2697480" cy="3063240"/>
          </a:xfrm>
          <a:prstGeom prst="roundRect">
            <a:avLst>
              <a:gd name="adj" fmla="val 3390"/>
            </a:avLst>
          </a:prstGeom>
          <a:solidFill>
            <a:srgbClr val="0F3560"/>
          </a:solidFill>
          <a:ln w="12700">
            <a:solidFill>
              <a:srgbClr val="214E9F"/>
            </a:solidFill>
            <a:prstDash val="solid"/>
          </a:ln>
        </p:spPr>
      </p:sp>
      <p:sp>
        <p:nvSpPr>
          <p:cNvPr id="12" name="Shape 10"/>
          <p:cNvSpPr/>
          <p:nvPr/>
        </p:nvSpPr>
        <p:spPr>
          <a:xfrm>
            <a:off x="3337560" y="1783080"/>
            <a:ext cx="384048" cy="384048"/>
          </a:xfrm>
          <a:prstGeom prst="ellipse">
            <a:avLst/>
          </a:prstGeom>
          <a:solidFill>
            <a:srgbClr val="214E9F"/>
          </a:solidFill>
          <a:ln w="12700">
            <a:solidFill>
              <a:srgbClr val="214E9F"/>
            </a:solidFill>
            <a:prstDash val="solid"/>
          </a:ln>
        </p:spPr>
      </p:sp>
      <p:sp>
        <p:nvSpPr>
          <p:cNvPr id="13" name="Text 11"/>
          <p:cNvSpPr/>
          <p:nvPr/>
        </p:nvSpPr>
        <p:spPr>
          <a:xfrm>
            <a:off x="3337560" y="1783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4" name="Text 12"/>
          <p:cNvSpPr/>
          <p:nvPr/>
        </p:nvSpPr>
        <p:spPr>
          <a:xfrm>
            <a:off x="3794760" y="1801368"/>
            <a:ext cx="1965960" cy="34747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Spec-Anchor</a:t>
            </a:r>
            <a:endParaRPr lang="en-US" sz="1300" dirty="0"/>
          </a:p>
        </p:txBody>
      </p:sp>
      <p:sp>
        <p:nvSpPr>
          <p:cNvPr id="15" name="Text 13"/>
          <p:cNvSpPr/>
          <p:nvPr/>
        </p:nvSpPr>
        <p:spPr>
          <a:xfrm>
            <a:off x="3337560" y="2240280"/>
            <a:ext cx="2423160" cy="347472"/>
          </a:xfrm>
          <a:prstGeom prst="rect">
            <a:avLst/>
          </a:prstGeom>
          <a:noFill/>
          <a:ln/>
        </p:spPr>
        <p:txBody>
          <a:bodyPr wrap="square" lIns="0" tIns="0" rIns="0" bIns="0" rtlCol="0" anchor="ctr"/>
          <a:lstStyle/>
          <a:p>
            <a:pPr indent="0" marL="0">
              <a:buNone/>
            </a:pPr>
            <a:r>
              <a:rPr lang="en-US" sz="1000" b="1" dirty="0">
                <a:solidFill>
                  <a:srgbClr val="6A95D6"/>
                </a:solidFill>
                <a:latin typeface="Calibri" pitchFamily="34" charset="0"/>
                <a:ea typeface="Calibri" pitchFamily="34" charset="-122"/>
                <a:cs typeface="Calibri" pitchFamily="34" charset="-120"/>
              </a:rPr>
              <a:t>La spec evoluciona con el código</a:t>
            </a:r>
            <a:endParaRPr lang="en-US" sz="1000" dirty="0"/>
          </a:p>
        </p:txBody>
      </p:sp>
      <p:sp>
        <p:nvSpPr>
          <p:cNvPr id="16" name="Text 14"/>
          <p:cNvSpPr/>
          <p:nvPr/>
        </p:nvSpPr>
        <p:spPr>
          <a:xfrm>
            <a:off x="3337560" y="2633472"/>
            <a:ext cx="2423160" cy="2011680"/>
          </a:xfrm>
          <a:prstGeom prst="rect">
            <a:avLst/>
          </a:prstGeom>
          <a:noFill/>
          <a:ln/>
        </p:spPr>
        <p:txBody>
          <a:bodyPr wrap="square" lIns="0" tIns="0" rIns="0" bIns="0" rtlCol="0" anchor="ctr"/>
          <a:lstStyle/>
          <a:p>
            <a:pPr indent="0" marL="0">
              <a:buNone/>
            </a:pPr>
            <a:r>
              <a:rPr lang="en-US" sz="1100" dirty="0">
                <a:solidFill>
                  <a:srgbClr val="D5E4F5"/>
                </a:solidFill>
                <a:latin typeface="Calibri" pitchFamily="34" charset="0"/>
                <a:ea typeface="Calibri" pitchFamily="34" charset="-122"/>
                <a:cs typeface="Calibri" pitchFamily="34" charset="-120"/>
              </a:rPr>
              <a:t>Cuando los reqs cambian, se actualiza la spec primero. El código sigue a la spec, nunca al revés. Disciplina de git: si cambia la intención, hay un commit de spec antes del commit de código.</a:t>
            </a:r>
            <a:endParaRPr lang="en-US" sz="1100" dirty="0"/>
          </a:p>
        </p:txBody>
      </p:sp>
      <p:sp>
        <p:nvSpPr>
          <p:cNvPr id="17" name="Shape 15"/>
          <p:cNvSpPr/>
          <p:nvPr/>
        </p:nvSpPr>
        <p:spPr>
          <a:xfrm>
            <a:off x="6080760" y="1691640"/>
            <a:ext cx="2697480" cy="3063240"/>
          </a:xfrm>
          <a:prstGeom prst="roundRect">
            <a:avLst>
              <a:gd name="adj" fmla="val 3390"/>
            </a:avLst>
          </a:prstGeom>
          <a:solidFill>
            <a:srgbClr val="123C6E"/>
          </a:solidFill>
          <a:ln w="12700">
            <a:solidFill>
              <a:srgbClr val="214E9F"/>
            </a:solidFill>
            <a:prstDash val="solid"/>
          </a:ln>
        </p:spPr>
      </p:sp>
      <p:sp>
        <p:nvSpPr>
          <p:cNvPr id="18" name="Shape 16"/>
          <p:cNvSpPr/>
          <p:nvPr/>
        </p:nvSpPr>
        <p:spPr>
          <a:xfrm>
            <a:off x="6217920" y="1783080"/>
            <a:ext cx="384048" cy="384048"/>
          </a:xfrm>
          <a:prstGeom prst="ellipse">
            <a:avLst/>
          </a:prstGeom>
          <a:solidFill>
            <a:srgbClr val="214E9F"/>
          </a:solidFill>
          <a:ln w="12700">
            <a:solidFill>
              <a:srgbClr val="214E9F"/>
            </a:solidFill>
            <a:prstDash val="solid"/>
          </a:ln>
        </p:spPr>
      </p:sp>
      <p:sp>
        <p:nvSpPr>
          <p:cNvPr id="19" name="Text 17"/>
          <p:cNvSpPr/>
          <p:nvPr/>
        </p:nvSpPr>
        <p:spPr>
          <a:xfrm>
            <a:off x="6217920" y="1783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p:nvPr/>
        </p:nvSpPr>
        <p:spPr>
          <a:xfrm>
            <a:off x="6675120" y="1801368"/>
            <a:ext cx="1965960" cy="34747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Spec-as-Source</a:t>
            </a:r>
            <a:endParaRPr lang="en-US" sz="1300" dirty="0"/>
          </a:p>
        </p:txBody>
      </p:sp>
      <p:sp>
        <p:nvSpPr>
          <p:cNvPr id="21" name="Text 19"/>
          <p:cNvSpPr/>
          <p:nvPr/>
        </p:nvSpPr>
        <p:spPr>
          <a:xfrm>
            <a:off x="6217920" y="2240280"/>
            <a:ext cx="2423160" cy="347472"/>
          </a:xfrm>
          <a:prstGeom prst="rect">
            <a:avLst/>
          </a:prstGeom>
          <a:noFill/>
          <a:ln/>
        </p:spPr>
        <p:txBody>
          <a:bodyPr wrap="square" lIns="0" tIns="0" rIns="0" bIns="0" rtlCol="0" anchor="ctr"/>
          <a:lstStyle/>
          <a:p>
            <a:pPr indent="0" marL="0">
              <a:buNone/>
            </a:pPr>
            <a:r>
              <a:rPr lang="en-US" sz="1000" b="1" dirty="0">
                <a:solidFill>
                  <a:srgbClr val="6A95D6"/>
                </a:solidFill>
                <a:latin typeface="Calibri" pitchFamily="34" charset="0"/>
                <a:ea typeface="Calibri" pitchFamily="34" charset="-122"/>
                <a:cs typeface="Calibri" pitchFamily="34" charset="-120"/>
              </a:rPr>
              <a:t>La spec genera artefactos</a:t>
            </a:r>
            <a:endParaRPr lang="en-US" sz="1000" dirty="0"/>
          </a:p>
        </p:txBody>
      </p:sp>
      <p:sp>
        <p:nvSpPr>
          <p:cNvPr id="22" name="Text 20"/>
          <p:cNvSpPr/>
          <p:nvPr/>
        </p:nvSpPr>
        <p:spPr>
          <a:xfrm>
            <a:off x="6217920" y="2633472"/>
            <a:ext cx="2423160" cy="2011680"/>
          </a:xfrm>
          <a:prstGeom prst="rect">
            <a:avLst/>
          </a:prstGeom>
          <a:noFill/>
          <a:ln/>
        </p:spPr>
        <p:txBody>
          <a:bodyPr wrap="square" lIns="0" tIns="0" rIns="0" bIns="0" rtlCol="0" anchor="ctr"/>
          <a:lstStyle/>
          <a:p>
            <a:pPr indent="0" marL="0">
              <a:buNone/>
            </a:pPr>
            <a:r>
              <a:rPr lang="en-US" sz="1100" dirty="0">
                <a:solidFill>
                  <a:srgbClr val="D5E4F5"/>
                </a:solidFill>
                <a:latin typeface="Calibri" pitchFamily="34" charset="0"/>
                <a:ea typeface="Calibri" pitchFamily="34" charset="-122"/>
                <a:cs typeface="Calibri" pitchFamily="34" charset="-120"/>
              </a:rPr>
              <a:t>La spec es tan precisa que puede usarse para generar código, tests y documentación directamente. El CLAUDE.md del proyecto es la spec-as-source operativa.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900" spc="200" kern="0" dirty="0">
                <a:solidFill>
                  <a:srgbClr val="6B7280"/>
                </a:solidFill>
                <a:latin typeface="Calibri" pitchFamily="34" charset="0"/>
                <a:ea typeface="Calibri" pitchFamily="34" charset="-122"/>
                <a:cs typeface="Calibri" pitchFamily="34" charset="-120"/>
              </a:rPr>
              <a:t>03 · ROL</a:t>
            </a:r>
            <a:endParaRPr lang="en-US" sz="900" dirty="0"/>
          </a:p>
        </p:txBody>
      </p:sp>
      <p:sp>
        <p:nvSpPr>
          <p:cNvPr id="3" name="Text 1"/>
          <p:cNvSpPr/>
          <p:nvPr/>
        </p:nvSpPr>
        <p:spPr>
          <a:xfrm>
            <a:off x="457200" y="594360"/>
            <a:ext cx="8229600" cy="594360"/>
          </a:xfrm>
          <a:prstGeom prst="rect">
            <a:avLst/>
          </a:prstGeom>
          <a:noFill/>
          <a:ln/>
        </p:spPr>
        <p:txBody>
          <a:bodyPr wrap="square" lIns="0" tIns="0" rIns="0" bIns="0" rtlCol="0" anchor="ctr"/>
          <a:lstStyle/>
          <a:p>
            <a:pPr indent="0" marL="0">
              <a:buNone/>
            </a:pPr>
            <a:r>
              <a:rPr lang="en-US" sz="2600" b="1" dirty="0">
                <a:solidFill>
                  <a:srgbClr val="111827"/>
                </a:solidFill>
                <a:latin typeface="Cambria" pitchFamily="34" charset="0"/>
                <a:ea typeface="Cambria" pitchFamily="34" charset="-122"/>
                <a:cs typeface="Cambria" pitchFamily="34" charset="-120"/>
              </a:rPr>
              <a:t>El desarrollador como Arquitecto de Intenciones</a:t>
            </a:r>
            <a:endParaRPr lang="en-US" sz="2600" dirty="0"/>
          </a:p>
        </p:txBody>
      </p:sp>
      <p:sp>
        <p:nvSpPr>
          <p:cNvPr id="4" name="Shape 2"/>
          <p:cNvSpPr/>
          <p:nvPr/>
        </p:nvSpPr>
        <p:spPr>
          <a:xfrm>
            <a:off x="320040" y="1371600"/>
            <a:ext cx="2697480" cy="3474720"/>
          </a:xfrm>
          <a:prstGeom prst="roundRect">
            <a:avLst>
              <a:gd name="adj" fmla="val 3390"/>
            </a:avLst>
          </a:prstGeom>
          <a:solidFill>
            <a:srgbClr val="0A192F"/>
          </a:solidFill>
          <a:ln w="12700">
            <a:solidFill>
              <a:srgbClr val="123C6E"/>
            </a:solidFill>
            <a:prstDash val="solid"/>
          </a:ln>
          <a:effectLst>
            <a:outerShdw sx="100000" sy="100000" kx="0" ky="0" algn="bl" rotWithShape="0" blurRad="101600" dist="38100" dir="2700000">
              <a:srgbClr val="000000">
                <a:alpha val="14000"/>
              </a:srgbClr>
            </a:outerShdw>
          </a:effectLst>
        </p:spPr>
      </p:sp>
      <p:sp>
        <p:nvSpPr>
          <p:cNvPr id="5" name="Text 3"/>
          <p:cNvSpPr/>
          <p:nvPr/>
        </p:nvSpPr>
        <p:spPr>
          <a:xfrm>
            <a:off x="457200" y="1508760"/>
            <a:ext cx="242316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6" name="Text 4"/>
          <p:cNvSpPr/>
          <p:nvPr/>
        </p:nvSpPr>
        <p:spPr>
          <a:xfrm>
            <a:off x="457200" y="2057400"/>
            <a:ext cx="24231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Arquitecto</a:t>
            </a:r>
            <a:endParaRPr lang="en-US" sz="1400" dirty="0"/>
          </a:p>
        </p:txBody>
      </p:sp>
      <p:sp>
        <p:nvSpPr>
          <p:cNvPr id="7" name="Text 5"/>
          <p:cNvSpPr/>
          <p:nvPr/>
        </p:nvSpPr>
        <p:spPr>
          <a:xfrm>
            <a:off x="457200" y="2395728"/>
            <a:ext cx="2423160" cy="292608"/>
          </a:xfrm>
          <a:prstGeom prst="rect">
            <a:avLst/>
          </a:prstGeom>
          <a:noFill/>
          <a:ln/>
        </p:spPr>
        <p:txBody>
          <a:bodyPr wrap="square" lIns="0" tIns="0" rIns="0" bIns="0" rtlCol="0" anchor="ctr"/>
          <a:lstStyle/>
          <a:p>
            <a:pPr algn="ctr" indent="0" marL="0">
              <a:buNone/>
            </a:pPr>
            <a:r>
              <a:rPr lang="en-US" sz="1000" dirty="0">
                <a:solidFill>
                  <a:srgbClr val="6A95D6"/>
                </a:solidFill>
                <a:latin typeface="Calibri" pitchFamily="34" charset="0"/>
                <a:ea typeface="Calibri" pitchFamily="34" charset="-122"/>
                <a:cs typeface="Calibri" pitchFamily="34" charset="-120"/>
              </a:rPr>
              <a:t>de Intenciones</a:t>
            </a:r>
            <a:endParaRPr lang="en-US" sz="1000" dirty="0"/>
          </a:p>
        </p:txBody>
      </p:sp>
      <p:sp>
        <p:nvSpPr>
          <p:cNvPr id="8" name="Shape 6"/>
          <p:cNvSpPr/>
          <p:nvPr/>
        </p:nvSpPr>
        <p:spPr>
          <a:xfrm>
            <a:off x="868680" y="2743200"/>
            <a:ext cx="1600200" cy="27432"/>
          </a:xfrm>
          <a:prstGeom prst="rect">
            <a:avLst/>
          </a:prstGeom>
          <a:solidFill>
            <a:srgbClr val="123C6E"/>
          </a:solidFill>
          <a:ln w="12700">
            <a:solidFill>
              <a:srgbClr val="123C6E"/>
            </a:solidFill>
            <a:prstDash val="solid"/>
          </a:ln>
        </p:spPr>
      </p:sp>
      <p:sp>
        <p:nvSpPr>
          <p:cNvPr id="9" name="Text 7"/>
          <p:cNvSpPr/>
          <p:nvPr/>
        </p:nvSpPr>
        <p:spPr>
          <a:xfrm>
            <a:off x="457200" y="2834640"/>
            <a:ext cx="2423160" cy="1828800"/>
          </a:xfrm>
          <a:prstGeom prst="rect">
            <a:avLst/>
          </a:prstGeom>
          <a:noFill/>
          <a:ln/>
        </p:spPr>
        <p:txBody>
          <a:bodyPr wrap="square" lIns="0" tIns="0" rIns="0" bIns="0" rtlCol="0" anchor="ctr"/>
          <a:lstStyle/>
          <a:p>
            <a:pPr indent="0" marL="0">
              <a:buNone/>
            </a:pPr>
            <a:r>
              <a:rPr lang="en-US" sz="1100" dirty="0">
                <a:solidFill>
                  <a:srgbClr val="D5E4F5"/>
                </a:solidFill>
                <a:latin typeface="Calibri" pitchFamily="34" charset="0"/>
                <a:ea typeface="Calibri" pitchFamily="34" charset="-122"/>
                <a:cs typeface="Calibri" pitchFamily="34" charset="-120"/>
              </a:rPr>
              <a:t>Define QUÉ debe existir y POR QUÉ. Redacta specs, ADRs y criterios de aceptación. Toma decisiones de arquitectura que el agente no puede tomar: stack, patrones, trade-offs de negocio.</a:t>
            </a:r>
            <a:endParaRPr lang="en-US" sz="1100" dirty="0"/>
          </a:p>
        </p:txBody>
      </p:sp>
      <p:sp>
        <p:nvSpPr>
          <p:cNvPr id="10" name="Shape 8"/>
          <p:cNvSpPr/>
          <p:nvPr/>
        </p:nvSpPr>
        <p:spPr>
          <a:xfrm>
            <a:off x="3200400" y="1371600"/>
            <a:ext cx="2697480" cy="3474720"/>
          </a:xfrm>
          <a:prstGeom prst="roundRect">
            <a:avLst>
              <a:gd name="adj" fmla="val 3390"/>
            </a:avLst>
          </a:prstGeom>
          <a:solidFill>
            <a:srgbClr val="0D2F48"/>
          </a:solidFill>
          <a:ln w="12700">
            <a:solidFill>
              <a:srgbClr val="123C6E"/>
            </a:solidFill>
            <a:prstDash val="solid"/>
          </a:ln>
          <a:effectLst>
            <a:outerShdw sx="100000" sy="100000" kx="0" ky="0" algn="bl" rotWithShape="0" blurRad="101600" dist="38100" dir="2700000">
              <a:srgbClr val="000000">
                <a:alpha val="14000"/>
              </a:srgbClr>
            </a:outerShdw>
          </a:effectLst>
        </p:spPr>
      </p:sp>
      <p:sp>
        <p:nvSpPr>
          <p:cNvPr id="11" name="Text 9"/>
          <p:cNvSpPr/>
          <p:nvPr/>
        </p:nvSpPr>
        <p:spPr>
          <a:xfrm>
            <a:off x="3337560" y="1508760"/>
            <a:ext cx="242316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2" name="Text 10"/>
          <p:cNvSpPr/>
          <p:nvPr/>
        </p:nvSpPr>
        <p:spPr>
          <a:xfrm>
            <a:off x="3337560" y="2057400"/>
            <a:ext cx="24231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Orquestador</a:t>
            </a:r>
            <a:endParaRPr lang="en-US" sz="1400" dirty="0"/>
          </a:p>
        </p:txBody>
      </p:sp>
      <p:sp>
        <p:nvSpPr>
          <p:cNvPr id="13" name="Text 11"/>
          <p:cNvSpPr/>
          <p:nvPr/>
        </p:nvSpPr>
        <p:spPr>
          <a:xfrm>
            <a:off x="3337560" y="2395728"/>
            <a:ext cx="2423160" cy="292608"/>
          </a:xfrm>
          <a:prstGeom prst="rect">
            <a:avLst/>
          </a:prstGeom>
          <a:noFill/>
          <a:ln/>
        </p:spPr>
        <p:txBody>
          <a:bodyPr wrap="square" lIns="0" tIns="0" rIns="0" bIns="0" rtlCol="0" anchor="ctr"/>
          <a:lstStyle/>
          <a:p>
            <a:pPr algn="ctr" indent="0" marL="0">
              <a:buNone/>
            </a:pPr>
            <a:r>
              <a:rPr lang="en-US" sz="1000" dirty="0">
                <a:solidFill>
                  <a:srgbClr val="6A95D6"/>
                </a:solidFill>
                <a:latin typeface="Calibri" pitchFamily="34" charset="0"/>
                <a:ea typeface="Calibri" pitchFamily="34" charset="-122"/>
                <a:cs typeface="Calibri" pitchFamily="34" charset="-120"/>
              </a:rPr>
              <a:t>de tareas atómicas</a:t>
            </a:r>
            <a:endParaRPr lang="en-US" sz="1000" dirty="0"/>
          </a:p>
        </p:txBody>
      </p:sp>
      <p:sp>
        <p:nvSpPr>
          <p:cNvPr id="14" name="Shape 12"/>
          <p:cNvSpPr/>
          <p:nvPr/>
        </p:nvSpPr>
        <p:spPr>
          <a:xfrm>
            <a:off x="3749040" y="2743200"/>
            <a:ext cx="1600200" cy="27432"/>
          </a:xfrm>
          <a:prstGeom prst="rect">
            <a:avLst/>
          </a:prstGeom>
          <a:solidFill>
            <a:srgbClr val="123C6E"/>
          </a:solidFill>
          <a:ln w="12700">
            <a:solidFill>
              <a:srgbClr val="123C6E"/>
            </a:solidFill>
            <a:prstDash val="solid"/>
          </a:ln>
        </p:spPr>
      </p:sp>
      <p:sp>
        <p:nvSpPr>
          <p:cNvPr id="15" name="Text 13"/>
          <p:cNvSpPr/>
          <p:nvPr/>
        </p:nvSpPr>
        <p:spPr>
          <a:xfrm>
            <a:off x="3337560" y="2834640"/>
            <a:ext cx="2423160" cy="1828800"/>
          </a:xfrm>
          <a:prstGeom prst="rect">
            <a:avLst/>
          </a:prstGeom>
          <a:noFill/>
          <a:ln/>
        </p:spPr>
        <p:txBody>
          <a:bodyPr wrap="square" lIns="0" tIns="0" rIns="0" bIns="0" rtlCol="0" anchor="ctr"/>
          <a:lstStyle/>
          <a:p>
            <a:pPr indent="0" marL="0">
              <a:buNone/>
            </a:pPr>
            <a:r>
              <a:rPr lang="en-US" sz="1100" dirty="0">
                <a:solidFill>
                  <a:srgbClr val="D5E4F5"/>
                </a:solidFill>
                <a:latin typeface="Calibri" pitchFamily="34" charset="0"/>
                <a:ea typeface="Calibri" pitchFamily="34" charset="-122"/>
                <a:cs typeface="Calibri" pitchFamily="34" charset="-120"/>
              </a:rPr>
              <a:t>Descompone el trabajo en tareas sin ambigüedad. Escribe el prompt preciso que guía al agente. Gestiona dependencias. Decide el orden de ejecución.</a:t>
            </a:r>
            <a:endParaRPr lang="en-US" sz="1100" dirty="0"/>
          </a:p>
        </p:txBody>
      </p:sp>
      <p:sp>
        <p:nvSpPr>
          <p:cNvPr id="16" name="Shape 14"/>
          <p:cNvSpPr/>
          <p:nvPr/>
        </p:nvSpPr>
        <p:spPr>
          <a:xfrm>
            <a:off x="6080760" y="1371600"/>
            <a:ext cx="2697480" cy="3474720"/>
          </a:xfrm>
          <a:prstGeom prst="roundRect">
            <a:avLst>
              <a:gd name="adj" fmla="val 3390"/>
            </a:avLst>
          </a:prstGeom>
          <a:solidFill>
            <a:srgbClr val="0F3560"/>
          </a:solidFill>
          <a:ln w="12700">
            <a:solidFill>
              <a:srgbClr val="123C6E"/>
            </a:solidFill>
            <a:prstDash val="solid"/>
          </a:ln>
          <a:effectLst>
            <a:outerShdw sx="100000" sy="100000" kx="0" ky="0" algn="bl" rotWithShape="0" blurRad="101600" dist="38100" dir="2700000">
              <a:srgbClr val="000000">
                <a:alpha val="14000"/>
              </a:srgbClr>
            </a:outerShdw>
          </a:effectLst>
        </p:spPr>
      </p:sp>
      <p:sp>
        <p:nvSpPr>
          <p:cNvPr id="17" name="Text 15"/>
          <p:cNvSpPr/>
          <p:nvPr/>
        </p:nvSpPr>
        <p:spPr>
          <a:xfrm>
            <a:off x="6217920" y="1508760"/>
            <a:ext cx="242316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8" name="Text 16"/>
          <p:cNvSpPr/>
          <p:nvPr/>
        </p:nvSpPr>
        <p:spPr>
          <a:xfrm>
            <a:off x="6217920" y="2057400"/>
            <a:ext cx="24231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Revisor Crítico</a:t>
            </a:r>
            <a:endParaRPr lang="en-US" sz="1400" dirty="0"/>
          </a:p>
        </p:txBody>
      </p:sp>
      <p:sp>
        <p:nvSpPr>
          <p:cNvPr id="19" name="Text 17"/>
          <p:cNvSpPr/>
          <p:nvPr/>
        </p:nvSpPr>
        <p:spPr>
          <a:xfrm>
            <a:off x="6217920" y="2395728"/>
            <a:ext cx="2423160" cy="292608"/>
          </a:xfrm>
          <a:prstGeom prst="rect">
            <a:avLst/>
          </a:prstGeom>
          <a:noFill/>
          <a:ln/>
        </p:spPr>
        <p:txBody>
          <a:bodyPr wrap="square" lIns="0" tIns="0" rIns="0" bIns="0" rtlCol="0" anchor="ctr"/>
          <a:lstStyle/>
          <a:p>
            <a:pPr algn="ctr" indent="0" marL="0">
              <a:buNone/>
            </a:pPr>
            <a:r>
              <a:rPr lang="en-US" sz="1000" dirty="0">
                <a:solidFill>
                  <a:srgbClr val="6A95D6"/>
                </a:solidFill>
                <a:latin typeface="Calibri" pitchFamily="34" charset="0"/>
                <a:ea typeface="Calibri" pitchFamily="34" charset="-122"/>
                <a:cs typeface="Calibri" pitchFamily="34" charset="-120"/>
              </a:rPr>
              <a:t>HITL — Approval Gate</a:t>
            </a:r>
            <a:endParaRPr lang="en-US" sz="1000" dirty="0"/>
          </a:p>
        </p:txBody>
      </p:sp>
      <p:sp>
        <p:nvSpPr>
          <p:cNvPr id="20" name="Shape 18"/>
          <p:cNvSpPr/>
          <p:nvPr/>
        </p:nvSpPr>
        <p:spPr>
          <a:xfrm>
            <a:off x="6629400" y="2743200"/>
            <a:ext cx="1600200" cy="27432"/>
          </a:xfrm>
          <a:prstGeom prst="rect">
            <a:avLst/>
          </a:prstGeom>
          <a:solidFill>
            <a:srgbClr val="123C6E"/>
          </a:solidFill>
          <a:ln w="12700">
            <a:solidFill>
              <a:srgbClr val="123C6E"/>
            </a:solidFill>
            <a:prstDash val="solid"/>
          </a:ln>
        </p:spPr>
      </p:sp>
      <p:sp>
        <p:nvSpPr>
          <p:cNvPr id="21" name="Text 19"/>
          <p:cNvSpPr/>
          <p:nvPr/>
        </p:nvSpPr>
        <p:spPr>
          <a:xfrm>
            <a:off x="6217920" y="2834640"/>
            <a:ext cx="2423160" cy="1828800"/>
          </a:xfrm>
          <a:prstGeom prst="rect">
            <a:avLst/>
          </a:prstGeom>
          <a:noFill/>
          <a:ln/>
        </p:spPr>
        <p:txBody>
          <a:bodyPr wrap="square" lIns="0" tIns="0" rIns="0" bIns="0" rtlCol="0" anchor="ctr"/>
          <a:lstStyle/>
          <a:p>
            <a:pPr indent="0" marL="0">
              <a:buNone/>
            </a:pPr>
            <a:r>
              <a:rPr lang="en-US" sz="1100" dirty="0">
                <a:solidFill>
                  <a:srgbClr val="D5E4F5"/>
                </a:solidFill>
                <a:latin typeface="Calibri" pitchFamily="34" charset="0"/>
                <a:ea typeface="Calibri" pitchFamily="34" charset="-122"/>
                <a:cs typeface="Calibri" pitchFamily="34" charset="-120"/>
              </a:rPr>
              <a:t>Revisa el plan antes de ejecutar. Verifica el output con ojos de usuario, no de autor. Es la última línea de defensa contra bugs sistémicos y decisiones de diseño equivocadas.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900" spc="200" kern="0" dirty="0">
                <a:solidFill>
                  <a:srgbClr val="6A95D6"/>
                </a:solidFill>
                <a:latin typeface="Calibri" pitchFamily="34" charset="0"/>
                <a:ea typeface="Calibri" pitchFamily="34" charset="-122"/>
                <a:cs typeface="Calibri" pitchFamily="34" charset="-120"/>
              </a:rPr>
              <a:t>04 · CASO REAL</a:t>
            </a:r>
            <a:endParaRPr lang="en-US" sz="900" dirty="0"/>
          </a:p>
        </p:txBody>
      </p:sp>
      <p:sp>
        <p:nvSpPr>
          <p:cNvPr id="3" name="Text 1"/>
          <p:cNvSpPr/>
          <p:nvPr/>
        </p:nvSpPr>
        <p:spPr>
          <a:xfrm>
            <a:off x="457200" y="594360"/>
            <a:ext cx="59436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Unidos por GPS</a:t>
            </a:r>
            <a:endParaRPr lang="en-US" sz="3400" dirty="0"/>
          </a:p>
        </p:txBody>
      </p:sp>
      <p:sp>
        <p:nvSpPr>
          <p:cNvPr id="4" name="Text 2"/>
          <p:cNvSpPr/>
          <p:nvPr/>
        </p:nvSpPr>
        <p:spPr>
          <a:xfrm>
            <a:off x="457200" y="1234440"/>
            <a:ext cx="6400800" cy="347472"/>
          </a:xfrm>
          <a:prstGeom prst="rect">
            <a:avLst/>
          </a:prstGeom>
          <a:noFill/>
          <a:ln/>
        </p:spPr>
        <p:txBody>
          <a:bodyPr wrap="square" lIns="0" tIns="0" rIns="0" bIns="0" rtlCol="0" anchor="ctr"/>
          <a:lstStyle/>
          <a:p>
            <a:pPr indent="0" marL="0">
              <a:buNone/>
            </a:pPr>
            <a:r>
              <a:rPr lang="en-US" sz="1400" dirty="0">
                <a:solidFill>
                  <a:srgbClr val="6A95D6"/>
                </a:solidFill>
                <a:latin typeface="Calibri" pitchFamily="34" charset="0"/>
                <a:ea typeface="Calibri" pitchFamily="34" charset="-122"/>
                <a:cs typeface="Calibri" pitchFamily="34" charset="-120"/>
              </a:rPr>
              <a:t>Empresa peruana de seguridad vehicular GPS — Lima, Perú</a:t>
            </a:r>
            <a:endParaRPr lang="en-US" sz="1400" dirty="0"/>
          </a:p>
        </p:txBody>
      </p:sp>
      <p:sp>
        <p:nvSpPr>
          <p:cNvPr id="5" name="Shape 3"/>
          <p:cNvSpPr/>
          <p:nvPr/>
        </p:nvSpPr>
        <p:spPr>
          <a:xfrm>
            <a:off x="365760" y="1737360"/>
            <a:ext cx="3931920" cy="3017520"/>
          </a:xfrm>
          <a:prstGeom prst="roundRect">
            <a:avLst>
              <a:gd name="adj" fmla="val 3030"/>
            </a:avLst>
          </a:prstGeom>
          <a:solidFill>
            <a:srgbClr val="0D2F48"/>
          </a:solidFill>
          <a:ln w="12700">
            <a:solidFill>
              <a:srgbClr val="0F3560"/>
            </a:solidFill>
            <a:prstDash val="solid"/>
          </a:ln>
        </p:spPr>
      </p:sp>
      <p:sp>
        <p:nvSpPr>
          <p:cNvPr id="6" name="Text 4"/>
          <p:cNvSpPr/>
          <p:nvPr/>
        </p:nvSpPr>
        <p:spPr>
          <a:xfrm>
            <a:off x="502920" y="1874520"/>
            <a:ext cx="3566160" cy="320040"/>
          </a:xfrm>
          <a:prstGeom prst="rect">
            <a:avLst/>
          </a:prstGeom>
          <a:noFill/>
          <a:ln/>
        </p:spPr>
        <p:txBody>
          <a:bodyPr wrap="square" lIns="0" tIns="0" rIns="0" bIns="0" rtlCol="0" anchor="ctr"/>
          <a:lstStyle/>
          <a:p>
            <a:pPr indent="0" marL="0">
              <a:buNone/>
            </a:pPr>
            <a:r>
              <a:rPr lang="en-US" sz="1100" b="1" spc="100" kern="0" dirty="0">
                <a:solidFill>
                  <a:srgbClr val="6A95D6"/>
                </a:solidFill>
                <a:latin typeface="Calibri" pitchFamily="34" charset="0"/>
                <a:ea typeface="Calibri" pitchFamily="34" charset="-122"/>
                <a:cs typeface="Calibri" pitchFamily="34" charset="-120"/>
              </a:rPr>
              <a:t>ANTES — Sitio Odoo</a:t>
            </a:r>
            <a:endParaRPr lang="en-US" sz="1100" dirty="0"/>
          </a:p>
        </p:txBody>
      </p:sp>
      <p:sp>
        <p:nvSpPr>
          <p:cNvPr id="7" name="Text 5"/>
          <p:cNvSpPr/>
          <p:nvPr/>
        </p:nvSpPr>
        <p:spPr>
          <a:xfrm>
            <a:off x="502920" y="2240280"/>
            <a:ext cx="3566160" cy="2423160"/>
          </a:xfrm>
          <a:prstGeom prst="rect">
            <a:avLst/>
          </a:prstGeom>
          <a:noFill/>
          <a:ln/>
        </p:spPr>
        <p:txBody>
          <a:bodyPr wrap="square" rtlCol="0" anchor="ctr"/>
          <a:lstStyle/>
          <a:p>
            <a:pPr marL="342900" indent="-342900">
              <a:spcAft>
                <a:spcPts val="500"/>
              </a:spcAft>
              <a:buSzPct val="100000"/>
              <a:buChar char="•"/>
            </a:pPr>
            <a:r>
              <a:rPr lang="en-US" sz="1150" dirty="0">
                <a:solidFill>
                  <a:srgbClr val="6A95D6"/>
                </a:solidFill>
                <a:latin typeface="Calibri" pitchFamily="34" charset="0"/>
                <a:ea typeface="Calibri" pitchFamily="34" charset="-122"/>
                <a:cs typeface="Calibri" pitchFamily="34" charset="-120"/>
              </a:rPr>
              <a:t>Diseño genérico, sin identidad visual propia</a:t>
            </a:r>
            <a:endParaRPr lang="en-US" sz="1150" dirty="0"/>
          </a:p>
          <a:p>
            <a:pPr marL="342900" indent="-342900">
              <a:spcAft>
                <a:spcPts val="500"/>
              </a:spcAft>
              <a:buSzPct val="100000"/>
              <a:buChar char="•"/>
            </a:pPr>
            <a:r>
              <a:rPr lang="en-US" sz="1150" dirty="0">
                <a:solidFill>
                  <a:srgbClr val="6A95D6"/>
                </a:solidFill>
                <a:latin typeface="Calibri" pitchFamily="34" charset="0"/>
                <a:ea typeface="Calibri" pitchFamily="34" charset="-122"/>
                <a:cs typeface="Calibri" pitchFamily="34" charset="-120"/>
              </a:rPr>
              <a:t>Sin formulario de cotización (cero leads capturados)</a:t>
            </a:r>
            <a:endParaRPr lang="en-US" sz="1150" dirty="0"/>
          </a:p>
          <a:p>
            <a:pPr marL="342900" indent="-342900">
              <a:spcAft>
                <a:spcPts val="500"/>
              </a:spcAft>
              <a:buSzPct val="100000"/>
              <a:buChar char="•"/>
            </a:pPr>
            <a:r>
              <a:rPr lang="en-US" sz="1150" dirty="0">
                <a:solidFill>
                  <a:srgbClr val="6A95D6"/>
                </a:solidFill>
                <a:latin typeface="Calibri" pitchFamily="34" charset="0"/>
                <a:ea typeface="Calibri" pitchFamily="34" charset="-122"/>
                <a:cs typeface="Calibri" pitchFamily="34" charset="-120"/>
              </a:rPr>
              <a:t>Performance y SEO sin medir ni optimizar</a:t>
            </a:r>
            <a:endParaRPr lang="en-US" sz="1150" dirty="0"/>
          </a:p>
          <a:p>
            <a:pPr marL="342900" indent="-342900">
              <a:spcAft>
                <a:spcPts val="500"/>
              </a:spcAft>
              <a:buSzPct val="100000"/>
              <a:buChar char="•"/>
            </a:pPr>
            <a:r>
              <a:rPr lang="en-US" sz="1150" dirty="0">
                <a:solidFill>
                  <a:srgbClr val="6A95D6"/>
                </a:solidFill>
                <a:latin typeface="Calibri" pitchFamily="34" charset="0"/>
                <a:ea typeface="Calibri" pitchFamily="34" charset="-122"/>
                <a:cs typeface="Calibri" pitchFamily="34" charset="-120"/>
              </a:rPr>
              <a:t>Sin mobile-first: tráfico móvil mayoritario</a:t>
            </a:r>
            <a:endParaRPr lang="en-US" sz="1150" dirty="0"/>
          </a:p>
          <a:p>
            <a:pPr marL="342900" indent="-342900">
              <a:spcAft>
                <a:spcPts val="500"/>
              </a:spcAft>
              <a:buSzPct val="100000"/>
              <a:buChar char="•"/>
            </a:pPr>
            <a:r>
              <a:rPr lang="en-US" sz="1150" dirty="0">
                <a:solidFill>
                  <a:srgbClr val="6A95D6"/>
                </a:solidFill>
                <a:latin typeface="Calibri" pitchFamily="34" charset="0"/>
                <a:ea typeface="Calibri" pitchFamily="34" charset="-122"/>
                <a:cs typeface="Calibri" pitchFamily="34" charset="-120"/>
              </a:rPr>
              <a:t>Sin tokens de diseño ni sistema de marca documentado</a:t>
            </a:r>
            <a:endParaRPr lang="en-US" sz="1150" dirty="0"/>
          </a:p>
        </p:txBody>
      </p:sp>
      <p:sp>
        <p:nvSpPr>
          <p:cNvPr id="8" name="Shape 6"/>
          <p:cNvSpPr/>
          <p:nvPr/>
        </p:nvSpPr>
        <p:spPr>
          <a:xfrm>
            <a:off x="4572000" y="1737360"/>
            <a:ext cx="3931920" cy="3017520"/>
          </a:xfrm>
          <a:prstGeom prst="roundRect">
            <a:avLst>
              <a:gd name="adj" fmla="val 3030"/>
            </a:avLst>
          </a:prstGeom>
          <a:solidFill>
            <a:srgbClr val="0F3560"/>
          </a:solidFill>
          <a:ln w="12700">
            <a:solidFill>
              <a:srgbClr val="123C6E"/>
            </a:solidFill>
            <a:prstDash val="solid"/>
          </a:ln>
        </p:spPr>
      </p:sp>
      <p:sp>
        <p:nvSpPr>
          <p:cNvPr id="9" name="Text 7"/>
          <p:cNvSpPr/>
          <p:nvPr/>
        </p:nvSpPr>
        <p:spPr>
          <a:xfrm>
            <a:off x="4709160" y="1874520"/>
            <a:ext cx="3566160" cy="320040"/>
          </a:xfrm>
          <a:prstGeom prst="rect">
            <a:avLst/>
          </a:prstGeom>
          <a:noFill/>
          <a:ln/>
        </p:spPr>
        <p:txBody>
          <a:bodyPr wrap="square" lIns="0" tIns="0" rIns="0" bIns="0" rtlCol="0" anchor="ctr"/>
          <a:lstStyle/>
          <a:p>
            <a:pPr indent="0" marL="0">
              <a:buNone/>
            </a:pPr>
            <a:r>
              <a:rPr lang="en-US" sz="1100" b="1" spc="100" kern="0" dirty="0">
                <a:solidFill>
                  <a:srgbClr val="D5E4F5"/>
                </a:solidFill>
                <a:latin typeface="Calibri" pitchFamily="34" charset="0"/>
                <a:ea typeface="Calibri" pitchFamily="34" charset="-122"/>
                <a:cs typeface="Calibri" pitchFamily="34" charset="-120"/>
              </a:rPr>
              <a:t>DESPUÉS — Next.js 14</a:t>
            </a:r>
            <a:endParaRPr lang="en-US" sz="1100" dirty="0"/>
          </a:p>
        </p:txBody>
      </p:sp>
      <p:sp>
        <p:nvSpPr>
          <p:cNvPr id="10" name="Text 8"/>
          <p:cNvSpPr/>
          <p:nvPr/>
        </p:nvSpPr>
        <p:spPr>
          <a:xfrm>
            <a:off x="4709160" y="2240280"/>
            <a:ext cx="3566160" cy="2423160"/>
          </a:xfrm>
          <a:prstGeom prst="rect">
            <a:avLst/>
          </a:prstGeom>
          <a:noFill/>
          <a:ln/>
        </p:spPr>
        <p:txBody>
          <a:bodyPr wrap="square" rtlCol="0" anchor="ctr"/>
          <a:lstStyle/>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Identidad visual extraída del logo (navy #123C6E, verificado píxel a píxel)</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Formulario de cotización → Supabase + notificación email vía Resend</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Lighthouse 99/96/100/100 · LCP 2.3s · CLS 0 · TBT 0ms</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Mobile-first desde 360px · Touch targets ≥ 44px · 0 scroll horizontal</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38 tareas atómicas documentadas, auditables y con gates de aprobación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900" spc="200" kern="0" dirty="0">
                <a:solidFill>
                  <a:srgbClr val="6B7280"/>
                </a:solidFill>
                <a:latin typeface="Calibri" pitchFamily="34" charset="0"/>
                <a:ea typeface="Calibri" pitchFamily="34" charset="-122"/>
                <a:cs typeface="Calibri" pitchFamily="34" charset="-120"/>
              </a:rPr>
              <a:t>05 · FLUJO DE TRABAJO</a:t>
            </a:r>
            <a:endParaRPr lang="en-US" sz="900" dirty="0"/>
          </a:p>
        </p:txBody>
      </p:sp>
      <p:sp>
        <p:nvSpPr>
          <p:cNvPr id="3" name="Text 1"/>
          <p:cNvSpPr/>
          <p:nvPr/>
        </p:nvSpPr>
        <p:spPr>
          <a:xfrm>
            <a:off x="457200" y="594360"/>
            <a:ext cx="8229600" cy="548640"/>
          </a:xfrm>
          <a:prstGeom prst="rect">
            <a:avLst/>
          </a:prstGeom>
          <a:noFill/>
          <a:ln/>
        </p:spPr>
        <p:txBody>
          <a:bodyPr wrap="square" lIns="0" tIns="0" rIns="0" bIns="0" rtlCol="0" anchor="ctr"/>
          <a:lstStyle/>
          <a:p>
            <a:pPr indent="0" marL="0">
              <a:buNone/>
            </a:pPr>
            <a:r>
              <a:rPr lang="en-US" sz="2600" b="1" dirty="0">
                <a:solidFill>
                  <a:srgbClr val="111827"/>
                </a:solidFill>
                <a:latin typeface="Cambria" pitchFamily="34" charset="0"/>
                <a:ea typeface="Cambria" pitchFamily="34" charset="-122"/>
                <a:cs typeface="Cambria" pitchFamily="34" charset="-120"/>
              </a:rPr>
              <a:t>De la intención al código: el flujo SDD</a:t>
            </a:r>
            <a:endParaRPr lang="en-US" sz="2600" dirty="0"/>
          </a:p>
        </p:txBody>
      </p:sp>
      <p:sp>
        <p:nvSpPr>
          <p:cNvPr id="4" name="Shape 2"/>
          <p:cNvSpPr/>
          <p:nvPr/>
        </p:nvSpPr>
        <p:spPr>
          <a:xfrm>
            <a:off x="320040" y="1344168"/>
            <a:ext cx="457200" cy="457200"/>
          </a:xfrm>
          <a:prstGeom prst="ellipse">
            <a:avLst/>
          </a:prstGeom>
          <a:solidFill>
            <a:srgbClr val="123C6E"/>
          </a:solidFill>
          <a:ln w="12700">
            <a:solidFill>
              <a:srgbClr val="123C6E"/>
            </a:solidFill>
            <a:prstDash val="solid"/>
          </a:ln>
        </p:spPr>
      </p:sp>
      <p:sp>
        <p:nvSpPr>
          <p:cNvPr id="5" name="Text 3"/>
          <p:cNvSpPr/>
          <p:nvPr/>
        </p:nvSpPr>
        <p:spPr>
          <a:xfrm>
            <a:off x="320040" y="13441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Shape 4"/>
          <p:cNvSpPr/>
          <p:nvPr/>
        </p:nvSpPr>
        <p:spPr>
          <a:xfrm>
            <a:off x="525780" y="1810512"/>
            <a:ext cx="36576" cy="246888"/>
          </a:xfrm>
          <a:prstGeom prst="rect">
            <a:avLst/>
          </a:prstGeom>
          <a:solidFill>
            <a:srgbClr val="6A95D6"/>
          </a:solidFill>
          <a:ln w="12700">
            <a:solidFill>
              <a:srgbClr val="6A95D6"/>
            </a:solidFill>
            <a:prstDash val="solid"/>
          </a:ln>
        </p:spPr>
      </p:sp>
      <p:sp>
        <p:nvSpPr>
          <p:cNvPr id="7" name="Text 5"/>
          <p:cNvSpPr/>
          <p:nvPr/>
        </p:nvSpPr>
        <p:spPr>
          <a:xfrm>
            <a:off x="868680" y="1344168"/>
            <a:ext cx="2286000" cy="274320"/>
          </a:xfrm>
          <a:prstGeom prst="rect">
            <a:avLst/>
          </a:prstGeom>
          <a:noFill/>
          <a:ln/>
        </p:spPr>
        <p:txBody>
          <a:bodyPr wrap="square" lIns="0" tIns="0" rIns="0" bIns="0" rtlCol="0" anchor="ctr"/>
          <a:lstStyle/>
          <a:p>
            <a:pPr indent="0" marL="0">
              <a:buNone/>
            </a:pPr>
            <a:r>
              <a:rPr lang="en-US" sz="1300" b="1" dirty="0">
                <a:solidFill>
                  <a:srgbClr val="111827"/>
                </a:solidFill>
                <a:latin typeface="Cambria" pitchFamily="34" charset="0"/>
                <a:ea typeface="Cambria" pitchFamily="34" charset="-122"/>
                <a:cs typeface="Cambria" pitchFamily="34" charset="-120"/>
              </a:rPr>
              <a:t>Requerimientos</a:t>
            </a:r>
            <a:endParaRPr lang="en-US" sz="1300" dirty="0"/>
          </a:p>
        </p:txBody>
      </p:sp>
      <p:sp>
        <p:nvSpPr>
          <p:cNvPr id="8" name="Text 6"/>
          <p:cNvSpPr/>
          <p:nvPr/>
        </p:nvSpPr>
        <p:spPr>
          <a:xfrm>
            <a:off x="868680" y="1618488"/>
            <a:ext cx="2560320" cy="201168"/>
          </a:xfrm>
          <a:prstGeom prst="rect">
            <a:avLst/>
          </a:prstGeom>
          <a:noFill/>
          <a:ln/>
        </p:spPr>
        <p:txBody>
          <a:bodyPr wrap="square" lIns="0" tIns="0" rIns="0" bIns="0" rtlCol="0" anchor="ctr"/>
          <a:lstStyle/>
          <a:p>
            <a:pPr indent="0" marL="0">
              <a:buNone/>
            </a:pPr>
            <a:r>
              <a:rPr lang="en-US" sz="900" dirty="0">
                <a:solidFill>
                  <a:srgbClr val="123C6E"/>
                </a:solidFill>
                <a:latin typeface="Courier New" pitchFamily="34" charset="0"/>
                <a:ea typeface="Courier New" pitchFamily="34" charset="-122"/>
                <a:cs typeface="Courier New" pitchFamily="34" charset="-120"/>
              </a:rPr>
              <a:t>specs/01-requirements.md</a:t>
            </a:r>
            <a:endParaRPr lang="en-US" sz="900" dirty="0"/>
          </a:p>
        </p:txBody>
      </p:sp>
      <p:sp>
        <p:nvSpPr>
          <p:cNvPr id="9" name="Text 7"/>
          <p:cNvSpPr/>
          <p:nvPr/>
        </p:nvSpPr>
        <p:spPr>
          <a:xfrm>
            <a:off x="3520440" y="1344168"/>
            <a:ext cx="5349240" cy="45720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Objetivos de negocio, audiencias, mapa del sitio, funcionalidades con criterios medibles</a:t>
            </a:r>
            <a:endParaRPr lang="en-US" sz="1100" dirty="0"/>
          </a:p>
        </p:txBody>
      </p:sp>
      <p:sp>
        <p:nvSpPr>
          <p:cNvPr id="10" name="Shape 8"/>
          <p:cNvSpPr/>
          <p:nvPr/>
        </p:nvSpPr>
        <p:spPr>
          <a:xfrm>
            <a:off x="320040" y="1984248"/>
            <a:ext cx="8503920" cy="18288"/>
          </a:xfrm>
          <a:prstGeom prst="rect">
            <a:avLst/>
          </a:prstGeom>
          <a:solidFill>
            <a:srgbClr val="D1D5DB"/>
          </a:solidFill>
          <a:ln w="12700">
            <a:solidFill>
              <a:srgbClr val="D1D5DB"/>
            </a:solidFill>
            <a:prstDash val="solid"/>
          </a:ln>
        </p:spPr>
      </p:sp>
      <p:sp>
        <p:nvSpPr>
          <p:cNvPr id="11" name="Shape 9"/>
          <p:cNvSpPr/>
          <p:nvPr/>
        </p:nvSpPr>
        <p:spPr>
          <a:xfrm>
            <a:off x="320040" y="2048256"/>
            <a:ext cx="457200" cy="457200"/>
          </a:xfrm>
          <a:prstGeom prst="ellipse">
            <a:avLst/>
          </a:prstGeom>
          <a:solidFill>
            <a:srgbClr val="123C6E"/>
          </a:solidFill>
          <a:ln w="12700">
            <a:solidFill>
              <a:srgbClr val="123C6E"/>
            </a:solidFill>
            <a:prstDash val="solid"/>
          </a:ln>
        </p:spPr>
      </p:sp>
      <p:sp>
        <p:nvSpPr>
          <p:cNvPr id="12" name="Text 10"/>
          <p:cNvSpPr/>
          <p:nvPr/>
        </p:nvSpPr>
        <p:spPr>
          <a:xfrm>
            <a:off x="320040" y="20482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Shape 11"/>
          <p:cNvSpPr/>
          <p:nvPr/>
        </p:nvSpPr>
        <p:spPr>
          <a:xfrm>
            <a:off x="525780" y="2514600"/>
            <a:ext cx="36576" cy="246888"/>
          </a:xfrm>
          <a:prstGeom prst="rect">
            <a:avLst/>
          </a:prstGeom>
          <a:solidFill>
            <a:srgbClr val="6A95D6"/>
          </a:solidFill>
          <a:ln w="12700">
            <a:solidFill>
              <a:srgbClr val="6A95D6"/>
            </a:solidFill>
            <a:prstDash val="solid"/>
          </a:ln>
        </p:spPr>
      </p:sp>
      <p:sp>
        <p:nvSpPr>
          <p:cNvPr id="14" name="Text 12"/>
          <p:cNvSpPr/>
          <p:nvPr/>
        </p:nvSpPr>
        <p:spPr>
          <a:xfrm>
            <a:off x="868680" y="2048256"/>
            <a:ext cx="2286000" cy="274320"/>
          </a:xfrm>
          <a:prstGeom prst="rect">
            <a:avLst/>
          </a:prstGeom>
          <a:noFill/>
          <a:ln/>
        </p:spPr>
        <p:txBody>
          <a:bodyPr wrap="square" lIns="0" tIns="0" rIns="0" bIns="0" rtlCol="0" anchor="ctr"/>
          <a:lstStyle/>
          <a:p>
            <a:pPr indent="0" marL="0">
              <a:buNone/>
            </a:pPr>
            <a:r>
              <a:rPr lang="en-US" sz="1300" b="1" dirty="0">
                <a:solidFill>
                  <a:srgbClr val="111827"/>
                </a:solidFill>
                <a:latin typeface="Cambria" pitchFamily="34" charset="0"/>
                <a:ea typeface="Cambria" pitchFamily="34" charset="-122"/>
                <a:cs typeface="Cambria" pitchFamily="34" charset="-120"/>
              </a:rPr>
              <a:t>Diseño + ADRs</a:t>
            </a:r>
            <a:endParaRPr lang="en-US" sz="1300" dirty="0"/>
          </a:p>
        </p:txBody>
      </p:sp>
      <p:sp>
        <p:nvSpPr>
          <p:cNvPr id="15" name="Text 13"/>
          <p:cNvSpPr/>
          <p:nvPr/>
        </p:nvSpPr>
        <p:spPr>
          <a:xfrm>
            <a:off x="868680" y="2322576"/>
            <a:ext cx="2560320" cy="201168"/>
          </a:xfrm>
          <a:prstGeom prst="rect">
            <a:avLst/>
          </a:prstGeom>
          <a:noFill/>
          <a:ln/>
        </p:spPr>
        <p:txBody>
          <a:bodyPr wrap="square" lIns="0" tIns="0" rIns="0" bIns="0" rtlCol="0" anchor="ctr"/>
          <a:lstStyle/>
          <a:p>
            <a:pPr indent="0" marL="0">
              <a:buNone/>
            </a:pPr>
            <a:r>
              <a:rPr lang="en-US" sz="900" dirty="0">
                <a:solidFill>
                  <a:srgbClr val="123C6E"/>
                </a:solidFill>
                <a:latin typeface="Courier New" pitchFamily="34" charset="0"/>
                <a:ea typeface="Courier New" pitchFamily="34" charset="-122"/>
                <a:cs typeface="Courier New" pitchFamily="34" charset="-120"/>
              </a:rPr>
              <a:t>specs/02-design.md · specs/decisions.md</a:t>
            </a:r>
            <a:endParaRPr lang="en-US" sz="900" dirty="0"/>
          </a:p>
        </p:txBody>
      </p:sp>
      <p:sp>
        <p:nvSpPr>
          <p:cNvPr id="16" name="Text 14"/>
          <p:cNvSpPr/>
          <p:nvPr/>
        </p:nvSpPr>
        <p:spPr>
          <a:xfrm>
            <a:off x="3520440" y="2048256"/>
            <a:ext cx="5349240" cy="45720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Design tokens, componentes, arquitectura técnica, decisiones de stack documentadas</a:t>
            </a:r>
            <a:endParaRPr lang="en-US" sz="1100" dirty="0"/>
          </a:p>
        </p:txBody>
      </p:sp>
      <p:sp>
        <p:nvSpPr>
          <p:cNvPr id="17" name="Shape 15"/>
          <p:cNvSpPr/>
          <p:nvPr/>
        </p:nvSpPr>
        <p:spPr>
          <a:xfrm>
            <a:off x="320040" y="2688336"/>
            <a:ext cx="8503920" cy="18288"/>
          </a:xfrm>
          <a:prstGeom prst="rect">
            <a:avLst/>
          </a:prstGeom>
          <a:solidFill>
            <a:srgbClr val="D1D5DB"/>
          </a:solidFill>
          <a:ln w="12700">
            <a:solidFill>
              <a:srgbClr val="D1D5DB"/>
            </a:solidFill>
            <a:prstDash val="solid"/>
          </a:ln>
        </p:spPr>
      </p:sp>
      <p:sp>
        <p:nvSpPr>
          <p:cNvPr id="18" name="Shape 16"/>
          <p:cNvSpPr/>
          <p:nvPr/>
        </p:nvSpPr>
        <p:spPr>
          <a:xfrm>
            <a:off x="320040" y="2752344"/>
            <a:ext cx="457200" cy="457200"/>
          </a:xfrm>
          <a:prstGeom prst="ellipse">
            <a:avLst/>
          </a:prstGeom>
          <a:solidFill>
            <a:srgbClr val="123C6E"/>
          </a:solidFill>
          <a:ln w="12700">
            <a:solidFill>
              <a:srgbClr val="123C6E"/>
            </a:solidFill>
            <a:prstDash val="solid"/>
          </a:ln>
        </p:spPr>
      </p:sp>
      <p:sp>
        <p:nvSpPr>
          <p:cNvPr id="19" name="Text 17"/>
          <p:cNvSpPr/>
          <p:nvPr/>
        </p:nvSpPr>
        <p:spPr>
          <a:xfrm>
            <a:off x="320040" y="27523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0" name="Shape 18"/>
          <p:cNvSpPr/>
          <p:nvPr/>
        </p:nvSpPr>
        <p:spPr>
          <a:xfrm>
            <a:off x="525780" y="3218688"/>
            <a:ext cx="36576" cy="246888"/>
          </a:xfrm>
          <a:prstGeom prst="rect">
            <a:avLst/>
          </a:prstGeom>
          <a:solidFill>
            <a:srgbClr val="6A95D6"/>
          </a:solidFill>
          <a:ln w="12700">
            <a:solidFill>
              <a:srgbClr val="6A95D6"/>
            </a:solidFill>
            <a:prstDash val="solid"/>
          </a:ln>
        </p:spPr>
      </p:sp>
      <p:sp>
        <p:nvSpPr>
          <p:cNvPr id="21" name="Text 19"/>
          <p:cNvSpPr/>
          <p:nvPr/>
        </p:nvSpPr>
        <p:spPr>
          <a:xfrm>
            <a:off x="868680" y="2752344"/>
            <a:ext cx="2286000" cy="274320"/>
          </a:xfrm>
          <a:prstGeom prst="rect">
            <a:avLst/>
          </a:prstGeom>
          <a:noFill/>
          <a:ln/>
        </p:spPr>
        <p:txBody>
          <a:bodyPr wrap="square" lIns="0" tIns="0" rIns="0" bIns="0" rtlCol="0" anchor="ctr"/>
          <a:lstStyle/>
          <a:p>
            <a:pPr indent="0" marL="0">
              <a:buNone/>
            </a:pPr>
            <a:r>
              <a:rPr lang="en-US" sz="1300" b="1" dirty="0">
                <a:solidFill>
                  <a:srgbClr val="111827"/>
                </a:solidFill>
                <a:latin typeface="Cambria" pitchFamily="34" charset="0"/>
                <a:ea typeface="Cambria" pitchFamily="34" charset="-122"/>
                <a:cs typeface="Cambria" pitchFamily="34" charset="-120"/>
              </a:rPr>
              <a:t>Marca documentada</a:t>
            </a:r>
            <a:endParaRPr lang="en-US" sz="1300" dirty="0"/>
          </a:p>
        </p:txBody>
      </p:sp>
      <p:sp>
        <p:nvSpPr>
          <p:cNvPr id="22" name="Text 20"/>
          <p:cNvSpPr/>
          <p:nvPr/>
        </p:nvSpPr>
        <p:spPr>
          <a:xfrm>
            <a:off x="868680" y="3026664"/>
            <a:ext cx="2560320" cy="201168"/>
          </a:xfrm>
          <a:prstGeom prst="rect">
            <a:avLst/>
          </a:prstGeom>
          <a:noFill/>
          <a:ln/>
        </p:spPr>
        <p:txBody>
          <a:bodyPr wrap="square" lIns="0" tIns="0" rIns="0" bIns="0" rtlCol="0" anchor="ctr"/>
          <a:lstStyle/>
          <a:p>
            <a:pPr indent="0" marL="0">
              <a:buNone/>
            </a:pPr>
            <a:r>
              <a:rPr lang="en-US" sz="900" dirty="0">
                <a:solidFill>
                  <a:srgbClr val="123C6E"/>
                </a:solidFill>
                <a:latin typeface="Courier New" pitchFamily="34" charset="0"/>
                <a:ea typeface="Courier New" pitchFamily="34" charset="-122"/>
                <a:cs typeface="Courier New" pitchFamily="34" charset="-120"/>
              </a:rPr>
              <a:t>design/brand/brand.md</a:t>
            </a:r>
            <a:endParaRPr lang="en-US" sz="900" dirty="0"/>
          </a:p>
        </p:txBody>
      </p:sp>
      <p:sp>
        <p:nvSpPr>
          <p:cNvPr id="23" name="Text 21"/>
          <p:cNvSpPr/>
          <p:nvPr/>
        </p:nvSpPr>
        <p:spPr>
          <a:xfrm>
            <a:off x="3520440" y="2752344"/>
            <a:ext cx="5349240" cy="45720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T01: extracción de colores del logo.png con PIL, verificación píxel a píxel, paleta confirmada</a:t>
            </a:r>
            <a:endParaRPr lang="en-US" sz="1100" dirty="0"/>
          </a:p>
        </p:txBody>
      </p:sp>
      <p:sp>
        <p:nvSpPr>
          <p:cNvPr id="24" name="Shape 22"/>
          <p:cNvSpPr/>
          <p:nvPr/>
        </p:nvSpPr>
        <p:spPr>
          <a:xfrm>
            <a:off x="320040" y="3392424"/>
            <a:ext cx="8503920" cy="18288"/>
          </a:xfrm>
          <a:prstGeom prst="rect">
            <a:avLst/>
          </a:prstGeom>
          <a:solidFill>
            <a:srgbClr val="D1D5DB"/>
          </a:solidFill>
          <a:ln w="12700">
            <a:solidFill>
              <a:srgbClr val="D1D5DB"/>
            </a:solidFill>
            <a:prstDash val="solid"/>
          </a:ln>
        </p:spPr>
      </p:sp>
      <p:sp>
        <p:nvSpPr>
          <p:cNvPr id="25" name="Shape 23"/>
          <p:cNvSpPr/>
          <p:nvPr/>
        </p:nvSpPr>
        <p:spPr>
          <a:xfrm>
            <a:off x="320040" y="3456432"/>
            <a:ext cx="457200" cy="457200"/>
          </a:xfrm>
          <a:prstGeom prst="ellipse">
            <a:avLst/>
          </a:prstGeom>
          <a:solidFill>
            <a:srgbClr val="123C6E"/>
          </a:solidFill>
          <a:ln w="12700">
            <a:solidFill>
              <a:srgbClr val="123C6E"/>
            </a:solidFill>
            <a:prstDash val="solid"/>
          </a:ln>
        </p:spPr>
      </p:sp>
      <p:sp>
        <p:nvSpPr>
          <p:cNvPr id="26" name="Text 24"/>
          <p:cNvSpPr/>
          <p:nvPr/>
        </p:nvSpPr>
        <p:spPr>
          <a:xfrm>
            <a:off x="320040" y="34564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7" name="Shape 25"/>
          <p:cNvSpPr/>
          <p:nvPr/>
        </p:nvSpPr>
        <p:spPr>
          <a:xfrm>
            <a:off x="525780" y="3922776"/>
            <a:ext cx="36576" cy="246888"/>
          </a:xfrm>
          <a:prstGeom prst="rect">
            <a:avLst/>
          </a:prstGeom>
          <a:solidFill>
            <a:srgbClr val="6A95D6"/>
          </a:solidFill>
          <a:ln w="12700">
            <a:solidFill>
              <a:srgbClr val="6A95D6"/>
            </a:solidFill>
            <a:prstDash val="solid"/>
          </a:ln>
        </p:spPr>
      </p:sp>
      <p:sp>
        <p:nvSpPr>
          <p:cNvPr id="28" name="Text 26"/>
          <p:cNvSpPr/>
          <p:nvPr/>
        </p:nvSpPr>
        <p:spPr>
          <a:xfrm>
            <a:off x="868680" y="3456432"/>
            <a:ext cx="2286000" cy="274320"/>
          </a:xfrm>
          <a:prstGeom prst="rect">
            <a:avLst/>
          </a:prstGeom>
          <a:noFill/>
          <a:ln/>
        </p:spPr>
        <p:txBody>
          <a:bodyPr wrap="square" lIns="0" tIns="0" rIns="0" bIns="0" rtlCol="0" anchor="ctr"/>
          <a:lstStyle/>
          <a:p>
            <a:pPr indent="0" marL="0">
              <a:buNone/>
            </a:pPr>
            <a:r>
              <a:rPr lang="en-US" sz="1300" b="1" dirty="0">
                <a:solidFill>
                  <a:srgbClr val="111827"/>
                </a:solidFill>
                <a:latin typeface="Cambria" pitchFamily="34" charset="0"/>
                <a:ea typeface="Cambria" pitchFamily="34" charset="-122"/>
                <a:cs typeface="Cambria" pitchFamily="34" charset="-120"/>
              </a:rPr>
              <a:t>Backlog atómico</a:t>
            </a:r>
            <a:endParaRPr lang="en-US" sz="1300" dirty="0"/>
          </a:p>
        </p:txBody>
      </p:sp>
      <p:sp>
        <p:nvSpPr>
          <p:cNvPr id="29" name="Text 27"/>
          <p:cNvSpPr/>
          <p:nvPr/>
        </p:nvSpPr>
        <p:spPr>
          <a:xfrm>
            <a:off x="868680" y="3730752"/>
            <a:ext cx="2560320" cy="201168"/>
          </a:xfrm>
          <a:prstGeom prst="rect">
            <a:avLst/>
          </a:prstGeom>
          <a:noFill/>
          <a:ln/>
        </p:spPr>
        <p:txBody>
          <a:bodyPr wrap="square" lIns="0" tIns="0" rIns="0" bIns="0" rtlCol="0" anchor="ctr"/>
          <a:lstStyle/>
          <a:p>
            <a:pPr indent="0" marL="0">
              <a:buNone/>
            </a:pPr>
            <a:r>
              <a:rPr lang="en-US" sz="900" dirty="0">
                <a:solidFill>
                  <a:srgbClr val="123C6E"/>
                </a:solidFill>
                <a:latin typeface="Courier New" pitchFamily="34" charset="0"/>
                <a:ea typeface="Courier New" pitchFamily="34" charset="-122"/>
                <a:cs typeface="Courier New" pitchFamily="34" charset="-120"/>
              </a:rPr>
              <a:t>specs/03-tasks.md</a:t>
            </a:r>
            <a:endParaRPr lang="en-US" sz="900" dirty="0"/>
          </a:p>
        </p:txBody>
      </p:sp>
      <p:sp>
        <p:nvSpPr>
          <p:cNvPr id="30" name="Text 28"/>
          <p:cNvSpPr/>
          <p:nvPr/>
        </p:nvSpPr>
        <p:spPr>
          <a:xfrm>
            <a:off x="3520440" y="3456432"/>
            <a:ext cx="5349240" cy="45720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38 tareas T01–T38, cada una con descripción, archivos permitidos, criterios de aceptación y verificación</a:t>
            </a:r>
            <a:endParaRPr lang="en-US" sz="1100" dirty="0"/>
          </a:p>
        </p:txBody>
      </p:sp>
      <p:sp>
        <p:nvSpPr>
          <p:cNvPr id="31" name="Shape 29"/>
          <p:cNvSpPr/>
          <p:nvPr/>
        </p:nvSpPr>
        <p:spPr>
          <a:xfrm>
            <a:off x="320040" y="4096512"/>
            <a:ext cx="8503920" cy="18288"/>
          </a:xfrm>
          <a:prstGeom prst="rect">
            <a:avLst/>
          </a:prstGeom>
          <a:solidFill>
            <a:srgbClr val="D1D5DB"/>
          </a:solidFill>
          <a:ln w="12700">
            <a:solidFill>
              <a:srgbClr val="D1D5DB"/>
            </a:solidFill>
            <a:prstDash val="solid"/>
          </a:ln>
        </p:spPr>
      </p:sp>
      <p:sp>
        <p:nvSpPr>
          <p:cNvPr id="32" name="Shape 30"/>
          <p:cNvSpPr/>
          <p:nvPr/>
        </p:nvSpPr>
        <p:spPr>
          <a:xfrm>
            <a:off x="320040" y="4160520"/>
            <a:ext cx="457200" cy="457200"/>
          </a:xfrm>
          <a:prstGeom prst="ellipse">
            <a:avLst/>
          </a:prstGeom>
          <a:solidFill>
            <a:srgbClr val="123C6E"/>
          </a:solidFill>
          <a:ln w="12700">
            <a:solidFill>
              <a:srgbClr val="123C6E"/>
            </a:solidFill>
            <a:prstDash val="solid"/>
          </a:ln>
        </p:spPr>
      </p:sp>
      <p:sp>
        <p:nvSpPr>
          <p:cNvPr id="33" name="Text 31"/>
          <p:cNvSpPr/>
          <p:nvPr/>
        </p:nvSpPr>
        <p:spPr>
          <a:xfrm>
            <a:off x="320040" y="4160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4" name="Text 32"/>
          <p:cNvSpPr/>
          <p:nvPr/>
        </p:nvSpPr>
        <p:spPr>
          <a:xfrm>
            <a:off x="868680" y="4160520"/>
            <a:ext cx="2286000" cy="274320"/>
          </a:xfrm>
          <a:prstGeom prst="rect">
            <a:avLst/>
          </a:prstGeom>
          <a:noFill/>
          <a:ln/>
        </p:spPr>
        <p:txBody>
          <a:bodyPr wrap="square" lIns="0" tIns="0" rIns="0" bIns="0" rtlCol="0" anchor="ctr"/>
          <a:lstStyle/>
          <a:p>
            <a:pPr indent="0" marL="0">
              <a:buNone/>
            </a:pPr>
            <a:r>
              <a:rPr lang="en-US" sz="1300" b="1" dirty="0">
                <a:solidFill>
                  <a:srgbClr val="111827"/>
                </a:solidFill>
                <a:latin typeface="Cambria" pitchFamily="34" charset="0"/>
                <a:ea typeface="Cambria" pitchFamily="34" charset="-122"/>
                <a:cs typeface="Cambria" pitchFamily="34" charset="-120"/>
              </a:rPr>
              <a:t>Ejecución con gates</a:t>
            </a:r>
            <a:endParaRPr lang="en-US" sz="1300" dirty="0"/>
          </a:p>
        </p:txBody>
      </p:sp>
      <p:sp>
        <p:nvSpPr>
          <p:cNvPr id="35" name="Text 33"/>
          <p:cNvSpPr/>
          <p:nvPr/>
        </p:nvSpPr>
        <p:spPr>
          <a:xfrm>
            <a:off x="868680" y="4434840"/>
            <a:ext cx="2560320" cy="201168"/>
          </a:xfrm>
          <a:prstGeom prst="rect">
            <a:avLst/>
          </a:prstGeom>
          <a:noFill/>
          <a:ln/>
        </p:spPr>
        <p:txBody>
          <a:bodyPr wrap="square" lIns="0" tIns="0" rIns="0" bIns="0" rtlCol="0" anchor="ctr"/>
          <a:lstStyle/>
          <a:p>
            <a:pPr indent="0" marL="0">
              <a:buNone/>
            </a:pPr>
            <a:r>
              <a:rPr lang="en-US" sz="900" dirty="0">
                <a:solidFill>
                  <a:srgbClr val="123C6E"/>
                </a:solidFill>
                <a:latin typeface="Courier New" pitchFamily="34" charset="0"/>
                <a:ea typeface="Courier New" pitchFamily="34" charset="-122"/>
                <a:cs typeface="Courier New" pitchFamily="34" charset="-120"/>
              </a:rPr>
              <a:t>Claude Code (Plan Mode)</a:t>
            </a:r>
            <a:endParaRPr lang="en-US" sz="900" dirty="0"/>
          </a:p>
        </p:txBody>
      </p:sp>
      <p:sp>
        <p:nvSpPr>
          <p:cNvPr id="36" name="Text 34"/>
          <p:cNvSpPr/>
          <p:nvPr/>
        </p:nvSpPr>
        <p:spPr>
          <a:xfrm>
            <a:off x="3520440" y="4160520"/>
            <a:ext cx="5349240" cy="45720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Una tarea a la vez: plan → aprobación humana → escritura de archivos → verificación → commit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D1C"/>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900" spc="200" kern="0" dirty="0">
                <a:solidFill>
                  <a:srgbClr val="6A95D6"/>
                </a:solidFill>
                <a:latin typeface="Calibri" pitchFamily="34" charset="0"/>
                <a:ea typeface="Calibri" pitchFamily="34" charset="-122"/>
                <a:cs typeface="Calibri" pitchFamily="34" charset="-120"/>
              </a:rPr>
              <a:t>06 · EN LA PRÁCTICA</a:t>
            </a:r>
            <a:endParaRPr lang="en-US" sz="900" dirty="0"/>
          </a:p>
        </p:txBody>
      </p:sp>
      <p:sp>
        <p:nvSpPr>
          <p:cNvPr id="3" name="Text 1"/>
          <p:cNvSpPr/>
          <p:nvPr/>
        </p:nvSpPr>
        <p:spPr>
          <a:xfrm>
            <a:off x="457200" y="59436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Una tarea atómica — T32: Sistema de primitivos UI</a:t>
            </a:r>
            <a:endParaRPr lang="en-US" sz="2200" dirty="0"/>
          </a:p>
        </p:txBody>
      </p:sp>
      <p:sp>
        <p:nvSpPr>
          <p:cNvPr id="4" name="Shape 2"/>
          <p:cNvSpPr/>
          <p:nvPr/>
        </p:nvSpPr>
        <p:spPr>
          <a:xfrm>
            <a:off x="365760" y="1234440"/>
            <a:ext cx="8412480" cy="3520440"/>
          </a:xfrm>
          <a:prstGeom prst="roundRect">
            <a:avLst>
              <a:gd name="adj" fmla="val 2597"/>
            </a:avLst>
          </a:prstGeom>
          <a:solidFill>
            <a:srgbClr val="0D2F48"/>
          </a:solidFill>
          <a:ln w="12700">
            <a:solidFill>
              <a:srgbClr val="0F3560"/>
            </a:solidFill>
            <a:prstDash val="solid"/>
          </a:ln>
        </p:spPr>
      </p:sp>
      <p:sp>
        <p:nvSpPr>
          <p:cNvPr id="5" name="Shape 3"/>
          <p:cNvSpPr/>
          <p:nvPr/>
        </p:nvSpPr>
        <p:spPr>
          <a:xfrm>
            <a:off x="365760" y="1234440"/>
            <a:ext cx="8412480" cy="502920"/>
          </a:xfrm>
          <a:prstGeom prst="roundRect">
            <a:avLst>
              <a:gd name="adj" fmla="val 18182"/>
            </a:avLst>
          </a:prstGeom>
          <a:solidFill>
            <a:srgbClr val="0F3560"/>
          </a:solidFill>
          <a:ln w="12700">
            <a:solidFill>
              <a:srgbClr val="0F3560"/>
            </a:solidFill>
            <a:prstDash val="solid"/>
          </a:ln>
        </p:spPr>
      </p:sp>
      <p:sp>
        <p:nvSpPr>
          <p:cNvPr id="6" name="Shape 4"/>
          <p:cNvSpPr/>
          <p:nvPr/>
        </p:nvSpPr>
        <p:spPr>
          <a:xfrm>
            <a:off x="365760" y="1508760"/>
            <a:ext cx="8412480" cy="228600"/>
          </a:xfrm>
          <a:prstGeom prst="rect">
            <a:avLst/>
          </a:prstGeom>
          <a:solidFill>
            <a:srgbClr val="0F3560"/>
          </a:solidFill>
          <a:ln w="12700">
            <a:solidFill>
              <a:srgbClr val="0F3560"/>
            </a:solidFill>
            <a:prstDash val="solid"/>
          </a:ln>
        </p:spPr>
      </p:sp>
      <p:sp>
        <p:nvSpPr>
          <p:cNvPr id="7" name="Text 5"/>
          <p:cNvSpPr/>
          <p:nvPr/>
        </p:nvSpPr>
        <p:spPr>
          <a:xfrm>
            <a:off x="502920" y="1289304"/>
            <a:ext cx="8046720" cy="347472"/>
          </a:xfrm>
          <a:prstGeom prst="rect">
            <a:avLst/>
          </a:prstGeom>
          <a:noFill/>
          <a:ln/>
        </p:spPr>
        <p:txBody>
          <a:bodyPr wrap="square" lIns="0" tIns="0" rIns="0" bIns="0" rtlCol="0" anchor="ctr"/>
          <a:lstStyle/>
          <a:p>
            <a:pPr indent="0" marL="0">
              <a:buNone/>
            </a:pPr>
            <a:r>
              <a:rPr lang="en-US" sz="1100" dirty="0">
                <a:solidFill>
                  <a:srgbClr val="D5E4F5"/>
                </a:solidFill>
                <a:latin typeface="Courier New" pitchFamily="34" charset="0"/>
                <a:ea typeface="Courier New" pitchFamily="34" charset="-122"/>
                <a:cs typeface="Courier New" pitchFamily="34" charset="-120"/>
              </a:rPr>
              <a:t>T32 · Estado: ✅ Aprobada · Prioridad: P0</a:t>
            </a:r>
            <a:endParaRPr lang="en-US" sz="1100" dirty="0"/>
          </a:p>
        </p:txBody>
      </p:sp>
      <p:sp>
        <p:nvSpPr>
          <p:cNvPr id="8" name="Text 6"/>
          <p:cNvSpPr/>
          <p:nvPr/>
        </p:nvSpPr>
        <p:spPr>
          <a:xfrm>
            <a:off x="502920" y="1847088"/>
            <a:ext cx="1828800" cy="228600"/>
          </a:xfrm>
          <a:prstGeom prst="rect">
            <a:avLst/>
          </a:prstGeom>
          <a:noFill/>
          <a:ln/>
        </p:spPr>
        <p:txBody>
          <a:bodyPr wrap="square" lIns="0" tIns="0" rIns="0" bIns="0" rtlCol="0" anchor="ctr"/>
          <a:lstStyle/>
          <a:p>
            <a:pPr indent="0" marL="0">
              <a:buNone/>
            </a:pPr>
            <a:r>
              <a:rPr lang="en-US" sz="900" b="1" dirty="0">
                <a:solidFill>
                  <a:srgbClr val="6A95D6"/>
                </a:solidFill>
                <a:latin typeface="Calibri" pitchFamily="34" charset="0"/>
                <a:ea typeface="Calibri" pitchFamily="34" charset="-122"/>
                <a:cs typeface="Calibri" pitchFamily="34" charset="-120"/>
              </a:rPr>
              <a:t>Descripción:</a:t>
            </a:r>
            <a:endParaRPr lang="en-US" sz="900" dirty="0"/>
          </a:p>
        </p:txBody>
      </p:sp>
      <p:sp>
        <p:nvSpPr>
          <p:cNvPr id="9" name="Text 7"/>
          <p:cNvSpPr/>
          <p:nvPr/>
        </p:nvSpPr>
        <p:spPr>
          <a:xfrm>
            <a:off x="2103120" y="1847088"/>
            <a:ext cx="6492240" cy="256032"/>
          </a:xfrm>
          <a:prstGeom prst="rect">
            <a:avLst/>
          </a:prstGeom>
          <a:noFill/>
          <a:ln/>
        </p:spPr>
        <p:txBody>
          <a:bodyPr wrap="square" lIns="0" tIns="0" rIns="0" bIns="0" rtlCol="0" anchor="ctr"/>
          <a:lstStyle/>
          <a:p>
            <a:pPr indent="0" marL="0">
              <a:buNone/>
            </a:pPr>
            <a:r>
              <a:rPr lang="en-US" sz="1050" dirty="0">
                <a:solidFill>
                  <a:srgbClr val="D5E4F5"/>
                </a:solidFill>
                <a:latin typeface="Calibri" pitchFamily="34" charset="0"/>
                <a:ea typeface="Calibri" pitchFamily="34" charset="-122"/>
                <a:cs typeface="Calibri" pitchFamily="34" charset="-120"/>
              </a:rPr>
              <a:t>Construir componentes primitivos de UI: Button (variantes primary/secondary/whatsapp), Container (max-w-7xl con padding responsive) y SectionHeading. Ninguna sección de la Home debe recrear estos primitivos.</a:t>
            </a:r>
            <a:endParaRPr lang="en-US" sz="1050" dirty="0"/>
          </a:p>
        </p:txBody>
      </p:sp>
      <p:sp>
        <p:nvSpPr>
          <p:cNvPr id="10" name="Text 8"/>
          <p:cNvSpPr/>
          <p:nvPr/>
        </p:nvSpPr>
        <p:spPr>
          <a:xfrm>
            <a:off x="502920" y="2359152"/>
            <a:ext cx="1828800" cy="228600"/>
          </a:xfrm>
          <a:prstGeom prst="rect">
            <a:avLst/>
          </a:prstGeom>
          <a:noFill/>
          <a:ln/>
        </p:spPr>
        <p:txBody>
          <a:bodyPr wrap="square" lIns="0" tIns="0" rIns="0" bIns="0" rtlCol="0" anchor="ctr"/>
          <a:lstStyle/>
          <a:p>
            <a:pPr indent="0" marL="0">
              <a:buNone/>
            </a:pPr>
            <a:r>
              <a:rPr lang="en-US" sz="900" b="1" dirty="0">
                <a:solidFill>
                  <a:srgbClr val="6A95D6"/>
                </a:solidFill>
                <a:latin typeface="Calibri" pitchFamily="34" charset="0"/>
                <a:ea typeface="Calibri" pitchFamily="34" charset="-122"/>
                <a:cs typeface="Calibri" pitchFamily="34" charset="-120"/>
              </a:rPr>
              <a:t>Archivos permitidos:</a:t>
            </a:r>
            <a:endParaRPr lang="en-US" sz="900" dirty="0"/>
          </a:p>
        </p:txBody>
      </p:sp>
      <p:sp>
        <p:nvSpPr>
          <p:cNvPr id="11" name="Text 9"/>
          <p:cNvSpPr/>
          <p:nvPr/>
        </p:nvSpPr>
        <p:spPr>
          <a:xfrm>
            <a:off x="2103120" y="2359152"/>
            <a:ext cx="6492240" cy="256032"/>
          </a:xfrm>
          <a:prstGeom prst="rect">
            <a:avLst/>
          </a:prstGeom>
          <a:noFill/>
          <a:ln/>
        </p:spPr>
        <p:txBody>
          <a:bodyPr wrap="square" lIns="0" tIns="0" rIns="0" bIns="0" rtlCol="0" anchor="ctr"/>
          <a:lstStyle/>
          <a:p>
            <a:pPr indent="0" marL="0">
              <a:buNone/>
            </a:pPr>
            <a:r>
              <a:rPr lang="en-US" sz="1050" dirty="0">
                <a:solidFill>
                  <a:srgbClr val="D5E4F5"/>
                </a:solidFill>
                <a:latin typeface="Calibri" pitchFamily="34" charset="0"/>
                <a:ea typeface="Calibri" pitchFamily="34" charset="-122"/>
                <a:cs typeface="Calibri" pitchFamily="34" charset="-120"/>
              </a:rPr>
              <a:t>components/ui/Button.tsx · components/ui/Container.tsx · components/ui/SectionHeading.tsx · package.json (añadir lucide-react)</a:t>
            </a:r>
            <a:endParaRPr lang="en-US" sz="1050" dirty="0"/>
          </a:p>
        </p:txBody>
      </p:sp>
      <p:sp>
        <p:nvSpPr>
          <p:cNvPr id="12" name="Text 10"/>
          <p:cNvSpPr/>
          <p:nvPr/>
        </p:nvSpPr>
        <p:spPr>
          <a:xfrm>
            <a:off x="502920" y="2871216"/>
            <a:ext cx="1828800" cy="228600"/>
          </a:xfrm>
          <a:prstGeom prst="rect">
            <a:avLst/>
          </a:prstGeom>
          <a:noFill/>
          <a:ln/>
        </p:spPr>
        <p:txBody>
          <a:bodyPr wrap="square" lIns="0" tIns="0" rIns="0" bIns="0" rtlCol="0" anchor="ctr"/>
          <a:lstStyle/>
          <a:p>
            <a:pPr indent="0" marL="0">
              <a:buNone/>
            </a:pPr>
            <a:r>
              <a:rPr lang="en-US" sz="900" b="1" dirty="0">
                <a:solidFill>
                  <a:srgbClr val="6A95D6"/>
                </a:solidFill>
                <a:latin typeface="Calibri" pitchFamily="34" charset="0"/>
                <a:ea typeface="Calibri" pitchFamily="34" charset="-122"/>
                <a:cs typeface="Calibri" pitchFamily="34" charset="-120"/>
              </a:rPr>
              <a:t>Criterios de aceptación:</a:t>
            </a:r>
            <a:endParaRPr lang="en-US" sz="900" dirty="0"/>
          </a:p>
        </p:txBody>
      </p:sp>
      <p:sp>
        <p:nvSpPr>
          <p:cNvPr id="13" name="Text 11"/>
          <p:cNvSpPr/>
          <p:nvPr/>
        </p:nvSpPr>
        <p:spPr>
          <a:xfrm>
            <a:off x="2103120" y="2871216"/>
            <a:ext cx="6492240" cy="411480"/>
          </a:xfrm>
          <a:prstGeom prst="rect">
            <a:avLst/>
          </a:prstGeom>
          <a:noFill/>
          <a:ln/>
        </p:spPr>
        <p:txBody>
          <a:bodyPr wrap="square" lIns="0" tIns="0" rIns="0" bIns="0" rtlCol="0" anchor="ctr"/>
          <a:lstStyle/>
          <a:p>
            <a:pPr indent="0" marL="0">
              <a:buNone/>
            </a:pPr>
            <a:r>
              <a:rPr lang="en-US" sz="1050" dirty="0">
                <a:solidFill>
                  <a:srgbClr val="D5E4F5"/>
                </a:solidFill>
                <a:latin typeface="Calibri" pitchFamily="34" charset="0"/>
                <a:ea typeface="Calibri" pitchFamily="34" charset="-122"/>
                <a:cs typeface="Calibri" pitchFamily="34" charset="-120"/>
              </a:rPr>
              <a:t>Button primary: fondo navy-600 · Button secondary: borde navy-600 · Button whatsapp: fondo #25D366 · Todas las variantes: min-h[44px] · Container: max-w-7xl mx-auto · SectionHeading: &lt;h2&gt; con font-heading</a:t>
            </a:r>
            <a:endParaRPr lang="en-US" sz="1050" dirty="0"/>
          </a:p>
        </p:txBody>
      </p:sp>
      <p:sp>
        <p:nvSpPr>
          <p:cNvPr id="14" name="Text 12"/>
          <p:cNvSpPr/>
          <p:nvPr/>
        </p:nvSpPr>
        <p:spPr>
          <a:xfrm>
            <a:off x="502920" y="3383280"/>
            <a:ext cx="1828800" cy="228600"/>
          </a:xfrm>
          <a:prstGeom prst="rect">
            <a:avLst/>
          </a:prstGeom>
          <a:noFill/>
          <a:ln/>
        </p:spPr>
        <p:txBody>
          <a:bodyPr wrap="square" lIns="0" tIns="0" rIns="0" bIns="0" rtlCol="0" anchor="ctr"/>
          <a:lstStyle/>
          <a:p>
            <a:pPr indent="0" marL="0">
              <a:buNone/>
            </a:pPr>
            <a:r>
              <a:rPr lang="en-US" sz="900" b="1" dirty="0">
                <a:solidFill>
                  <a:srgbClr val="6A95D6"/>
                </a:solidFill>
                <a:latin typeface="Calibri" pitchFamily="34" charset="0"/>
                <a:ea typeface="Calibri" pitchFamily="34" charset="-122"/>
                <a:cs typeface="Calibri" pitchFamily="34" charset="-120"/>
              </a:rPr>
              <a:t>Verificación:</a:t>
            </a:r>
            <a:endParaRPr lang="en-US" sz="900" dirty="0"/>
          </a:p>
        </p:txBody>
      </p:sp>
      <p:sp>
        <p:nvSpPr>
          <p:cNvPr id="15" name="Text 13"/>
          <p:cNvSpPr/>
          <p:nvPr/>
        </p:nvSpPr>
        <p:spPr>
          <a:xfrm>
            <a:off x="2103120" y="3383280"/>
            <a:ext cx="6492240" cy="256032"/>
          </a:xfrm>
          <a:prstGeom prst="rect">
            <a:avLst/>
          </a:prstGeom>
          <a:noFill/>
          <a:ln/>
        </p:spPr>
        <p:txBody>
          <a:bodyPr wrap="square" lIns="0" tIns="0" rIns="0" bIns="0" rtlCol="0" anchor="ctr"/>
          <a:lstStyle/>
          <a:p>
            <a:pPr indent="0" marL="0">
              <a:buNone/>
            </a:pPr>
            <a:r>
              <a:rPr lang="en-US" sz="1050" dirty="0">
                <a:solidFill>
                  <a:srgbClr val="D5E4F5"/>
                </a:solidFill>
                <a:latin typeface="Calibri" pitchFamily="34" charset="0"/>
                <a:ea typeface="Calibri" pitchFamily="34" charset="-122"/>
                <a:cs typeface="Calibri" pitchFamily="34" charset="-120"/>
              </a:rPr>
              <a:t>npm run build &amp;&amp; npm run lint + inspección visual de 3 variantes en DevTools a 360/768/1280px</a:t>
            </a:r>
            <a:endParaRPr lang="en-US" sz="1050" dirty="0"/>
          </a:p>
        </p:txBody>
      </p:sp>
      <p:sp>
        <p:nvSpPr>
          <p:cNvPr id="16" name="Shape 14"/>
          <p:cNvSpPr/>
          <p:nvPr/>
        </p:nvSpPr>
        <p:spPr>
          <a:xfrm>
            <a:off x="365760" y="4572000"/>
            <a:ext cx="8412480" cy="384048"/>
          </a:xfrm>
          <a:prstGeom prst="roundRect">
            <a:avLst>
              <a:gd name="adj" fmla="val 14286"/>
            </a:avLst>
          </a:prstGeom>
          <a:solidFill>
            <a:srgbClr val="123C6E"/>
          </a:solidFill>
          <a:ln w="12700">
            <a:solidFill>
              <a:srgbClr val="123C6E"/>
            </a:solidFill>
            <a:prstDash val="solid"/>
          </a:ln>
        </p:spPr>
      </p:sp>
      <p:sp>
        <p:nvSpPr>
          <p:cNvPr id="17" name="Text 15"/>
          <p:cNvSpPr/>
          <p:nvPr/>
        </p:nvSpPr>
        <p:spPr>
          <a:xfrm>
            <a:off x="502920" y="4572000"/>
            <a:ext cx="8046720" cy="38404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Los «archivos permitidos» son el contrato de alcance. Si no está en la lista, el agente no lo toca.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900" spc="200" kern="0" dirty="0">
                <a:solidFill>
                  <a:srgbClr val="6B7280"/>
                </a:solidFill>
                <a:latin typeface="Calibri" pitchFamily="34" charset="0"/>
                <a:ea typeface="Calibri" pitchFamily="34" charset="-122"/>
                <a:cs typeface="Calibri" pitchFamily="34" charset="-120"/>
              </a:rPr>
              <a:t>07 · RESULTADOS</a:t>
            </a:r>
            <a:endParaRPr lang="en-US" sz="900" dirty="0"/>
          </a:p>
        </p:txBody>
      </p:sp>
      <p:sp>
        <p:nvSpPr>
          <p:cNvPr id="3" name="Text 1"/>
          <p:cNvSpPr/>
          <p:nvPr/>
        </p:nvSpPr>
        <p:spPr>
          <a:xfrm>
            <a:off x="457200" y="594360"/>
            <a:ext cx="8229600" cy="548640"/>
          </a:xfrm>
          <a:prstGeom prst="rect">
            <a:avLst/>
          </a:prstGeom>
          <a:noFill/>
          <a:ln/>
        </p:spPr>
        <p:txBody>
          <a:bodyPr wrap="square" lIns="0" tIns="0" rIns="0" bIns="0" rtlCol="0" anchor="ctr"/>
          <a:lstStyle/>
          <a:p>
            <a:pPr indent="0" marL="0">
              <a:buNone/>
            </a:pPr>
            <a:r>
              <a:rPr lang="en-US" sz="2600" b="1" dirty="0">
                <a:solidFill>
                  <a:srgbClr val="111827"/>
                </a:solidFill>
                <a:latin typeface="Cambria" pitchFamily="34" charset="0"/>
                <a:ea typeface="Cambria" pitchFamily="34" charset="-122"/>
                <a:cs typeface="Cambria" pitchFamily="34" charset="-120"/>
              </a:rPr>
              <a:t>Resultados medibles — medición real en Vercel</a:t>
            </a:r>
            <a:endParaRPr lang="en-US" sz="2600" dirty="0"/>
          </a:p>
        </p:txBody>
      </p:sp>
      <p:sp>
        <p:nvSpPr>
          <p:cNvPr id="4" name="Shape 2"/>
          <p:cNvSpPr/>
          <p:nvPr/>
        </p:nvSpPr>
        <p:spPr>
          <a:xfrm>
            <a:off x="365760" y="1325880"/>
            <a:ext cx="1920240" cy="1600200"/>
          </a:xfrm>
          <a:prstGeom prst="roundRect">
            <a:avLst>
              <a:gd name="adj" fmla="val 5714"/>
            </a:avLst>
          </a:prstGeom>
          <a:solidFill>
            <a:srgbClr val="0A192F"/>
          </a:solidFill>
          <a:ln w="12700">
            <a:solidFill>
              <a:srgbClr val="0F3560"/>
            </a:solidFill>
            <a:prstDash val="solid"/>
          </a:ln>
          <a:effectLst>
            <a:outerShdw sx="100000" sy="100000" kx="0" ky="0" algn="bl" rotWithShape="0" blurRad="101600" dist="38100" dir="2700000">
              <a:srgbClr val="000000">
                <a:alpha val="14000"/>
              </a:srgbClr>
            </a:outerShdw>
          </a:effectLst>
        </p:spPr>
      </p:sp>
      <p:sp>
        <p:nvSpPr>
          <p:cNvPr id="5" name="Text 3"/>
          <p:cNvSpPr/>
          <p:nvPr/>
        </p:nvSpPr>
        <p:spPr>
          <a:xfrm>
            <a:off x="365760" y="1417320"/>
            <a:ext cx="192024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99</a:t>
            </a:r>
            <a:endParaRPr lang="en-US" sz="4800" dirty="0"/>
          </a:p>
        </p:txBody>
      </p:sp>
      <p:sp>
        <p:nvSpPr>
          <p:cNvPr id="6" name="Text 4"/>
          <p:cNvSpPr/>
          <p:nvPr/>
        </p:nvSpPr>
        <p:spPr>
          <a:xfrm>
            <a:off x="365760" y="2331720"/>
            <a:ext cx="1920240" cy="384048"/>
          </a:xfrm>
          <a:prstGeom prst="rect">
            <a:avLst/>
          </a:prstGeom>
          <a:noFill/>
          <a:ln/>
        </p:spPr>
        <p:txBody>
          <a:bodyPr wrap="square" lIns="0" tIns="0" rIns="0" bIns="0" rtlCol="0" anchor="ctr"/>
          <a:lstStyle/>
          <a:p>
            <a:pPr algn="ctr" indent="0" marL="0">
              <a:buNone/>
            </a:pPr>
            <a:r>
              <a:rPr lang="en-US" sz="1100" dirty="0">
                <a:solidFill>
                  <a:srgbClr val="6A95D6"/>
                </a:solidFill>
                <a:latin typeface="Calibri" pitchFamily="34" charset="0"/>
                <a:ea typeface="Calibri" pitchFamily="34" charset="-122"/>
                <a:cs typeface="Calibri" pitchFamily="34" charset="-120"/>
              </a:rPr>
              <a:t>Performance</a:t>
            </a:r>
            <a:endParaRPr lang="en-US" sz="1100" dirty="0"/>
          </a:p>
        </p:txBody>
      </p:sp>
      <p:sp>
        <p:nvSpPr>
          <p:cNvPr id="7" name="Shape 5"/>
          <p:cNvSpPr/>
          <p:nvPr/>
        </p:nvSpPr>
        <p:spPr>
          <a:xfrm>
            <a:off x="2468880" y="1325880"/>
            <a:ext cx="1920240" cy="1600200"/>
          </a:xfrm>
          <a:prstGeom prst="roundRect">
            <a:avLst>
              <a:gd name="adj" fmla="val 5714"/>
            </a:avLst>
          </a:prstGeom>
          <a:solidFill>
            <a:srgbClr val="0A192F"/>
          </a:solidFill>
          <a:ln w="12700">
            <a:solidFill>
              <a:srgbClr val="0F3560"/>
            </a:solidFill>
            <a:prstDash val="solid"/>
          </a:ln>
          <a:effectLst>
            <a:outerShdw sx="100000" sy="100000" kx="0" ky="0" algn="bl" rotWithShape="0" blurRad="101600" dist="38100" dir="2700000">
              <a:srgbClr val="000000">
                <a:alpha val="14000"/>
              </a:srgbClr>
            </a:outerShdw>
          </a:effectLst>
        </p:spPr>
      </p:sp>
      <p:sp>
        <p:nvSpPr>
          <p:cNvPr id="8" name="Text 6"/>
          <p:cNvSpPr/>
          <p:nvPr/>
        </p:nvSpPr>
        <p:spPr>
          <a:xfrm>
            <a:off x="2468880" y="1417320"/>
            <a:ext cx="192024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96</a:t>
            </a:r>
            <a:endParaRPr lang="en-US" sz="4800" dirty="0"/>
          </a:p>
        </p:txBody>
      </p:sp>
      <p:sp>
        <p:nvSpPr>
          <p:cNvPr id="9" name="Text 7"/>
          <p:cNvSpPr/>
          <p:nvPr/>
        </p:nvSpPr>
        <p:spPr>
          <a:xfrm>
            <a:off x="2468880" y="2331720"/>
            <a:ext cx="1920240" cy="384048"/>
          </a:xfrm>
          <a:prstGeom prst="rect">
            <a:avLst/>
          </a:prstGeom>
          <a:noFill/>
          <a:ln/>
        </p:spPr>
        <p:txBody>
          <a:bodyPr wrap="square" lIns="0" tIns="0" rIns="0" bIns="0" rtlCol="0" anchor="ctr"/>
          <a:lstStyle/>
          <a:p>
            <a:pPr algn="ctr" indent="0" marL="0">
              <a:buNone/>
            </a:pPr>
            <a:r>
              <a:rPr lang="en-US" sz="1100" dirty="0">
                <a:solidFill>
                  <a:srgbClr val="6A95D6"/>
                </a:solidFill>
                <a:latin typeface="Calibri" pitchFamily="34" charset="0"/>
                <a:ea typeface="Calibri" pitchFamily="34" charset="-122"/>
                <a:cs typeface="Calibri" pitchFamily="34" charset="-120"/>
              </a:rPr>
              <a:t>Accessibility</a:t>
            </a:r>
            <a:endParaRPr lang="en-US" sz="1100" dirty="0"/>
          </a:p>
        </p:txBody>
      </p:sp>
      <p:sp>
        <p:nvSpPr>
          <p:cNvPr id="10" name="Shape 8"/>
          <p:cNvSpPr/>
          <p:nvPr/>
        </p:nvSpPr>
        <p:spPr>
          <a:xfrm>
            <a:off x="4572000" y="1325880"/>
            <a:ext cx="1920240" cy="1600200"/>
          </a:xfrm>
          <a:prstGeom prst="roundRect">
            <a:avLst>
              <a:gd name="adj" fmla="val 5714"/>
            </a:avLst>
          </a:prstGeom>
          <a:solidFill>
            <a:srgbClr val="0A192F"/>
          </a:solidFill>
          <a:ln w="12700">
            <a:solidFill>
              <a:srgbClr val="0F3560"/>
            </a:solidFill>
            <a:prstDash val="solid"/>
          </a:ln>
          <a:effectLst>
            <a:outerShdw sx="100000" sy="100000" kx="0" ky="0" algn="bl" rotWithShape="0" blurRad="101600" dist="38100" dir="2700000">
              <a:srgbClr val="000000">
                <a:alpha val="14000"/>
              </a:srgbClr>
            </a:outerShdw>
          </a:effectLst>
        </p:spPr>
      </p:sp>
      <p:sp>
        <p:nvSpPr>
          <p:cNvPr id="11" name="Text 9"/>
          <p:cNvSpPr/>
          <p:nvPr/>
        </p:nvSpPr>
        <p:spPr>
          <a:xfrm>
            <a:off x="4572000" y="1417320"/>
            <a:ext cx="192024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100</a:t>
            </a:r>
            <a:endParaRPr lang="en-US" sz="4800" dirty="0"/>
          </a:p>
        </p:txBody>
      </p:sp>
      <p:sp>
        <p:nvSpPr>
          <p:cNvPr id="12" name="Text 10"/>
          <p:cNvSpPr/>
          <p:nvPr/>
        </p:nvSpPr>
        <p:spPr>
          <a:xfrm>
            <a:off x="4572000" y="2331720"/>
            <a:ext cx="1920240" cy="384048"/>
          </a:xfrm>
          <a:prstGeom prst="rect">
            <a:avLst/>
          </a:prstGeom>
          <a:noFill/>
          <a:ln/>
        </p:spPr>
        <p:txBody>
          <a:bodyPr wrap="square" lIns="0" tIns="0" rIns="0" bIns="0" rtlCol="0" anchor="ctr"/>
          <a:lstStyle/>
          <a:p>
            <a:pPr algn="ctr" indent="0" marL="0">
              <a:buNone/>
            </a:pPr>
            <a:r>
              <a:rPr lang="en-US" sz="1100" dirty="0">
                <a:solidFill>
                  <a:srgbClr val="6A95D6"/>
                </a:solidFill>
                <a:latin typeface="Calibri" pitchFamily="34" charset="0"/>
                <a:ea typeface="Calibri" pitchFamily="34" charset="-122"/>
                <a:cs typeface="Calibri" pitchFamily="34" charset="-120"/>
              </a:rPr>
              <a:t>Best Practices</a:t>
            </a:r>
            <a:endParaRPr lang="en-US" sz="1100" dirty="0"/>
          </a:p>
        </p:txBody>
      </p:sp>
      <p:sp>
        <p:nvSpPr>
          <p:cNvPr id="13" name="Shape 11"/>
          <p:cNvSpPr/>
          <p:nvPr/>
        </p:nvSpPr>
        <p:spPr>
          <a:xfrm>
            <a:off x="6675120" y="1325880"/>
            <a:ext cx="1920240" cy="1600200"/>
          </a:xfrm>
          <a:prstGeom prst="roundRect">
            <a:avLst>
              <a:gd name="adj" fmla="val 5714"/>
            </a:avLst>
          </a:prstGeom>
          <a:solidFill>
            <a:srgbClr val="0A192F"/>
          </a:solidFill>
          <a:ln w="12700">
            <a:solidFill>
              <a:srgbClr val="0F3560"/>
            </a:solidFill>
            <a:prstDash val="solid"/>
          </a:ln>
          <a:effectLst>
            <a:outerShdw sx="100000" sy="100000" kx="0" ky="0" algn="bl" rotWithShape="0" blurRad="101600" dist="38100" dir="2700000">
              <a:srgbClr val="000000">
                <a:alpha val="14000"/>
              </a:srgbClr>
            </a:outerShdw>
          </a:effectLst>
        </p:spPr>
      </p:sp>
      <p:sp>
        <p:nvSpPr>
          <p:cNvPr id="14" name="Text 12"/>
          <p:cNvSpPr/>
          <p:nvPr/>
        </p:nvSpPr>
        <p:spPr>
          <a:xfrm>
            <a:off x="6675120" y="1417320"/>
            <a:ext cx="192024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100</a:t>
            </a:r>
            <a:endParaRPr lang="en-US" sz="4800" dirty="0"/>
          </a:p>
        </p:txBody>
      </p:sp>
      <p:sp>
        <p:nvSpPr>
          <p:cNvPr id="15" name="Text 13"/>
          <p:cNvSpPr/>
          <p:nvPr/>
        </p:nvSpPr>
        <p:spPr>
          <a:xfrm>
            <a:off x="6675120" y="2331720"/>
            <a:ext cx="1920240" cy="384048"/>
          </a:xfrm>
          <a:prstGeom prst="rect">
            <a:avLst/>
          </a:prstGeom>
          <a:noFill/>
          <a:ln/>
        </p:spPr>
        <p:txBody>
          <a:bodyPr wrap="square" lIns="0" tIns="0" rIns="0" bIns="0" rtlCol="0" anchor="ctr"/>
          <a:lstStyle/>
          <a:p>
            <a:pPr algn="ctr" indent="0" marL="0">
              <a:buNone/>
            </a:pPr>
            <a:r>
              <a:rPr lang="en-US" sz="1100" dirty="0">
                <a:solidFill>
                  <a:srgbClr val="6A95D6"/>
                </a:solidFill>
                <a:latin typeface="Calibri" pitchFamily="34" charset="0"/>
                <a:ea typeface="Calibri" pitchFamily="34" charset="-122"/>
                <a:cs typeface="Calibri" pitchFamily="34" charset="-120"/>
              </a:rPr>
              <a:t>SEO</a:t>
            </a:r>
            <a:endParaRPr lang="en-US" sz="1100" dirty="0"/>
          </a:p>
        </p:txBody>
      </p:sp>
      <p:sp>
        <p:nvSpPr>
          <p:cNvPr id="16" name="Shape 14"/>
          <p:cNvSpPr/>
          <p:nvPr/>
        </p:nvSpPr>
        <p:spPr>
          <a:xfrm>
            <a:off x="365760" y="3154680"/>
            <a:ext cx="2651760" cy="1645920"/>
          </a:xfrm>
          <a:prstGeom prst="roundRect">
            <a:avLst>
              <a:gd name="adj" fmla="val 5556"/>
            </a:avLst>
          </a:prstGeom>
          <a:solidFill>
            <a:srgbClr val="FFFFFF"/>
          </a:solidFill>
          <a:ln w="12700">
            <a:solidFill>
              <a:srgbClr val="D1D5DB"/>
            </a:solidFill>
            <a:prstDash val="solid"/>
          </a:ln>
          <a:effectLst>
            <a:outerShdw sx="100000" sy="100000" kx="0" ky="0" algn="bl" rotWithShape="0" blurRad="101600" dist="38100" dir="2700000">
              <a:srgbClr val="000000">
                <a:alpha val="14000"/>
              </a:srgbClr>
            </a:outerShdw>
          </a:effectLst>
        </p:spPr>
      </p:sp>
      <p:sp>
        <p:nvSpPr>
          <p:cNvPr id="17" name="Text 15"/>
          <p:cNvSpPr/>
          <p:nvPr/>
        </p:nvSpPr>
        <p:spPr>
          <a:xfrm>
            <a:off x="502920" y="3273552"/>
            <a:ext cx="1097280" cy="347472"/>
          </a:xfrm>
          <a:prstGeom prst="rect">
            <a:avLst/>
          </a:prstGeom>
          <a:noFill/>
          <a:ln/>
        </p:spPr>
        <p:txBody>
          <a:bodyPr wrap="square" lIns="0" tIns="0" rIns="0" bIns="0" rtlCol="0" anchor="ctr"/>
          <a:lstStyle/>
          <a:p>
            <a:pPr indent="0" marL="0">
              <a:buNone/>
            </a:pPr>
            <a:r>
              <a:rPr lang="en-US" sz="1800" b="1" dirty="0">
                <a:solidFill>
                  <a:srgbClr val="123C6E"/>
                </a:solidFill>
                <a:latin typeface="Cambria" pitchFamily="34" charset="0"/>
                <a:ea typeface="Cambria" pitchFamily="34" charset="-122"/>
                <a:cs typeface="Cambria" pitchFamily="34" charset="-120"/>
              </a:rPr>
              <a:t>LCP</a:t>
            </a:r>
            <a:endParaRPr lang="en-US" sz="1800" dirty="0"/>
          </a:p>
        </p:txBody>
      </p:sp>
      <p:sp>
        <p:nvSpPr>
          <p:cNvPr id="18" name="Text 16"/>
          <p:cNvSpPr/>
          <p:nvPr/>
        </p:nvSpPr>
        <p:spPr>
          <a:xfrm>
            <a:off x="1600200" y="3273552"/>
            <a:ext cx="1188720" cy="347472"/>
          </a:xfrm>
          <a:prstGeom prst="rect">
            <a:avLst/>
          </a:prstGeom>
          <a:noFill/>
          <a:ln/>
        </p:spPr>
        <p:txBody>
          <a:bodyPr wrap="square" lIns="0" tIns="0" rIns="0" bIns="0" rtlCol="0" anchor="ctr"/>
          <a:lstStyle/>
          <a:p>
            <a:pPr algn="r" indent="0" marL="0">
              <a:buNone/>
            </a:pPr>
            <a:r>
              <a:rPr lang="en-US" sz="1800" b="1" dirty="0">
                <a:solidFill>
                  <a:srgbClr val="111827"/>
                </a:solidFill>
                <a:latin typeface="Cambria" pitchFamily="34" charset="0"/>
                <a:ea typeface="Cambria" pitchFamily="34" charset="-122"/>
                <a:cs typeface="Cambria" pitchFamily="34" charset="-120"/>
              </a:rPr>
              <a:t>2.3 s</a:t>
            </a:r>
            <a:endParaRPr lang="en-US" sz="1800" dirty="0"/>
          </a:p>
        </p:txBody>
      </p:sp>
      <p:sp>
        <p:nvSpPr>
          <p:cNvPr id="19" name="Text 17"/>
          <p:cNvSpPr/>
          <p:nvPr/>
        </p:nvSpPr>
        <p:spPr>
          <a:xfrm>
            <a:off x="502920" y="3657600"/>
            <a:ext cx="237744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Largest Contentful Paint</a:t>
            </a:r>
            <a:endParaRPr lang="en-US" sz="1000" dirty="0"/>
          </a:p>
        </p:txBody>
      </p:sp>
      <p:sp>
        <p:nvSpPr>
          <p:cNvPr id="20" name="Text 18"/>
          <p:cNvSpPr/>
          <p:nvPr/>
        </p:nvSpPr>
        <p:spPr>
          <a:xfrm>
            <a:off x="502920" y="3977640"/>
            <a:ext cx="2377440" cy="548640"/>
          </a:xfrm>
          <a:prstGeom prst="rect">
            <a:avLst/>
          </a:prstGeom>
          <a:noFill/>
          <a:ln/>
        </p:spPr>
        <p:txBody>
          <a:bodyPr wrap="square" lIns="0" tIns="0" rIns="0" bIns="0" rtlCol="0" anchor="ctr"/>
          <a:lstStyle/>
          <a:p>
            <a:pPr indent="0" marL="0">
              <a:buNone/>
            </a:pPr>
            <a:r>
              <a:rPr lang="en-US" sz="1200" b="1" dirty="0">
                <a:solidFill>
                  <a:srgbClr val="16A34A"/>
                </a:solidFill>
                <a:latin typeface="Calibri" pitchFamily="34" charset="0"/>
                <a:ea typeface="Calibri" pitchFamily="34" charset="-122"/>
                <a:cs typeface="Calibri" pitchFamily="34" charset="-120"/>
              </a:rPr>
              <a:t>&lt; 2.5 s ✓</a:t>
            </a:r>
            <a:endParaRPr lang="en-US" sz="1200" dirty="0"/>
          </a:p>
        </p:txBody>
      </p:sp>
      <p:sp>
        <p:nvSpPr>
          <p:cNvPr id="21" name="Shape 19"/>
          <p:cNvSpPr/>
          <p:nvPr/>
        </p:nvSpPr>
        <p:spPr>
          <a:xfrm>
            <a:off x="3200400" y="3154680"/>
            <a:ext cx="2651760" cy="1645920"/>
          </a:xfrm>
          <a:prstGeom prst="roundRect">
            <a:avLst>
              <a:gd name="adj" fmla="val 5556"/>
            </a:avLst>
          </a:prstGeom>
          <a:solidFill>
            <a:srgbClr val="FFFFFF"/>
          </a:solidFill>
          <a:ln w="12700">
            <a:solidFill>
              <a:srgbClr val="D1D5DB"/>
            </a:solidFill>
            <a:prstDash val="solid"/>
          </a:ln>
          <a:effectLst>
            <a:outerShdw sx="100000" sy="100000" kx="0" ky="0" algn="bl" rotWithShape="0" blurRad="101600" dist="38100" dir="2700000">
              <a:srgbClr val="000000">
                <a:alpha val="14000"/>
              </a:srgbClr>
            </a:outerShdw>
          </a:effectLst>
        </p:spPr>
      </p:sp>
      <p:sp>
        <p:nvSpPr>
          <p:cNvPr id="22" name="Text 20"/>
          <p:cNvSpPr/>
          <p:nvPr/>
        </p:nvSpPr>
        <p:spPr>
          <a:xfrm>
            <a:off x="3337560" y="3273552"/>
            <a:ext cx="1097280" cy="347472"/>
          </a:xfrm>
          <a:prstGeom prst="rect">
            <a:avLst/>
          </a:prstGeom>
          <a:noFill/>
          <a:ln/>
        </p:spPr>
        <p:txBody>
          <a:bodyPr wrap="square" lIns="0" tIns="0" rIns="0" bIns="0" rtlCol="0" anchor="ctr"/>
          <a:lstStyle/>
          <a:p>
            <a:pPr indent="0" marL="0">
              <a:buNone/>
            </a:pPr>
            <a:r>
              <a:rPr lang="en-US" sz="1800" b="1" dirty="0">
                <a:solidFill>
                  <a:srgbClr val="123C6E"/>
                </a:solidFill>
                <a:latin typeface="Cambria" pitchFamily="34" charset="0"/>
                <a:ea typeface="Cambria" pitchFamily="34" charset="-122"/>
                <a:cs typeface="Cambria" pitchFamily="34" charset="-120"/>
              </a:rPr>
              <a:t>CLS</a:t>
            </a:r>
            <a:endParaRPr lang="en-US" sz="1800" dirty="0"/>
          </a:p>
        </p:txBody>
      </p:sp>
      <p:sp>
        <p:nvSpPr>
          <p:cNvPr id="23" name="Text 21"/>
          <p:cNvSpPr/>
          <p:nvPr/>
        </p:nvSpPr>
        <p:spPr>
          <a:xfrm>
            <a:off x="4434840" y="3273552"/>
            <a:ext cx="1188720" cy="347472"/>
          </a:xfrm>
          <a:prstGeom prst="rect">
            <a:avLst/>
          </a:prstGeom>
          <a:noFill/>
          <a:ln/>
        </p:spPr>
        <p:txBody>
          <a:bodyPr wrap="square" lIns="0" tIns="0" rIns="0" bIns="0" rtlCol="0" anchor="ctr"/>
          <a:lstStyle/>
          <a:p>
            <a:pPr algn="r" indent="0" marL="0">
              <a:buNone/>
            </a:pPr>
            <a:r>
              <a:rPr lang="en-US" sz="1800" b="1" dirty="0">
                <a:solidFill>
                  <a:srgbClr val="111827"/>
                </a:solidFill>
                <a:latin typeface="Cambria" pitchFamily="34" charset="0"/>
                <a:ea typeface="Cambria" pitchFamily="34" charset="-122"/>
                <a:cs typeface="Cambria" pitchFamily="34" charset="-120"/>
              </a:rPr>
              <a:t>0</a:t>
            </a:r>
            <a:endParaRPr lang="en-US" sz="1800" dirty="0"/>
          </a:p>
        </p:txBody>
      </p:sp>
      <p:sp>
        <p:nvSpPr>
          <p:cNvPr id="24" name="Text 22"/>
          <p:cNvSpPr/>
          <p:nvPr/>
        </p:nvSpPr>
        <p:spPr>
          <a:xfrm>
            <a:off x="3337560" y="3657600"/>
            <a:ext cx="237744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Cumulative Layout Shift</a:t>
            </a:r>
            <a:endParaRPr lang="en-US" sz="1000" dirty="0"/>
          </a:p>
        </p:txBody>
      </p:sp>
      <p:sp>
        <p:nvSpPr>
          <p:cNvPr id="25" name="Text 23"/>
          <p:cNvSpPr/>
          <p:nvPr/>
        </p:nvSpPr>
        <p:spPr>
          <a:xfrm>
            <a:off x="3337560" y="3977640"/>
            <a:ext cx="2377440" cy="548640"/>
          </a:xfrm>
          <a:prstGeom prst="rect">
            <a:avLst/>
          </a:prstGeom>
          <a:noFill/>
          <a:ln/>
        </p:spPr>
        <p:txBody>
          <a:bodyPr wrap="square" lIns="0" tIns="0" rIns="0" bIns="0" rtlCol="0" anchor="ctr"/>
          <a:lstStyle/>
          <a:p>
            <a:pPr indent="0" marL="0">
              <a:buNone/>
            </a:pPr>
            <a:r>
              <a:rPr lang="en-US" sz="1200" b="1" dirty="0">
                <a:solidFill>
                  <a:srgbClr val="16A34A"/>
                </a:solidFill>
                <a:latin typeface="Calibri" pitchFamily="34" charset="0"/>
                <a:ea typeface="Calibri" pitchFamily="34" charset="-122"/>
                <a:cs typeface="Calibri" pitchFamily="34" charset="-120"/>
              </a:rPr>
              <a:t>&lt; 0.1 ✓</a:t>
            </a:r>
            <a:endParaRPr lang="en-US" sz="1200" dirty="0"/>
          </a:p>
        </p:txBody>
      </p:sp>
      <p:sp>
        <p:nvSpPr>
          <p:cNvPr id="26" name="Shape 24"/>
          <p:cNvSpPr/>
          <p:nvPr/>
        </p:nvSpPr>
        <p:spPr>
          <a:xfrm>
            <a:off x="6035040" y="3154680"/>
            <a:ext cx="2651760" cy="1645920"/>
          </a:xfrm>
          <a:prstGeom prst="roundRect">
            <a:avLst>
              <a:gd name="adj" fmla="val 5556"/>
            </a:avLst>
          </a:prstGeom>
          <a:solidFill>
            <a:srgbClr val="FFFFFF"/>
          </a:solidFill>
          <a:ln w="12700">
            <a:solidFill>
              <a:srgbClr val="D1D5DB"/>
            </a:solidFill>
            <a:prstDash val="solid"/>
          </a:ln>
          <a:effectLst>
            <a:outerShdw sx="100000" sy="100000" kx="0" ky="0" algn="bl" rotWithShape="0" blurRad="101600" dist="38100" dir="2700000">
              <a:srgbClr val="000000">
                <a:alpha val="14000"/>
              </a:srgbClr>
            </a:outerShdw>
          </a:effectLst>
        </p:spPr>
      </p:sp>
      <p:sp>
        <p:nvSpPr>
          <p:cNvPr id="27" name="Text 25"/>
          <p:cNvSpPr/>
          <p:nvPr/>
        </p:nvSpPr>
        <p:spPr>
          <a:xfrm>
            <a:off x="6172200" y="3273552"/>
            <a:ext cx="1097280" cy="347472"/>
          </a:xfrm>
          <a:prstGeom prst="rect">
            <a:avLst/>
          </a:prstGeom>
          <a:noFill/>
          <a:ln/>
        </p:spPr>
        <p:txBody>
          <a:bodyPr wrap="square" lIns="0" tIns="0" rIns="0" bIns="0" rtlCol="0" anchor="ctr"/>
          <a:lstStyle/>
          <a:p>
            <a:pPr indent="0" marL="0">
              <a:buNone/>
            </a:pPr>
            <a:r>
              <a:rPr lang="en-US" sz="1800" b="1" dirty="0">
                <a:solidFill>
                  <a:srgbClr val="123C6E"/>
                </a:solidFill>
                <a:latin typeface="Cambria" pitchFamily="34" charset="0"/>
                <a:ea typeface="Cambria" pitchFamily="34" charset="-122"/>
                <a:cs typeface="Cambria" pitchFamily="34" charset="-120"/>
              </a:rPr>
              <a:t>TBT</a:t>
            </a:r>
            <a:endParaRPr lang="en-US" sz="1800" dirty="0"/>
          </a:p>
        </p:txBody>
      </p:sp>
      <p:sp>
        <p:nvSpPr>
          <p:cNvPr id="28" name="Text 26"/>
          <p:cNvSpPr/>
          <p:nvPr/>
        </p:nvSpPr>
        <p:spPr>
          <a:xfrm>
            <a:off x="7269480" y="3273552"/>
            <a:ext cx="1188720" cy="347472"/>
          </a:xfrm>
          <a:prstGeom prst="rect">
            <a:avLst/>
          </a:prstGeom>
          <a:noFill/>
          <a:ln/>
        </p:spPr>
        <p:txBody>
          <a:bodyPr wrap="square" lIns="0" tIns="0" rIns="0" bIns="0" rtlCol="0" anchor="ctr"/>
          <a:lstStyle/>
          <a:p>
            <a:pPr algn="r" indent="0" marL="0">
              <a:buNone/>
            </a:pPr>
            <a:r>
              <a:rPr lang="en-US" sz="1800" b="1" dirty="0">
                <a:solidFill>
                  <a:srgbClr val="111827"/>
                </a:solidFill>
                <a:latin typeface="Cambria" pitchFamily="34" charset="0"/>
                <a:ea typeface="Cambria" pitchFamily="34" charset="-122"/>
                <a:cs typeface="Cambria" pitchFamily="34" charset="-120"/>
              </a:rPr>
              <a:t>0 ms</a:t>
            </a:r>
            <a:endParaRPr lang="en-US" sz="1800" dirty="0"/>
          </a:p>
        </p:txBody>
      </p:sp>
      <p:sp>
        <p:nvSpPr>
          <p:cNvPr id="29" name="Text 27"/>
          <p:cNvSpPr/>
          <p:nvPr/>
        </p:nvSpPr>
        <p:spPr>
          <a:xfrm>
            <a:off x="6172200" y="3657600"/>
            <a:ext cx="237744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Total Blocking Time</a:t>
            </a:r>
            <a:endParaRPr lang="en-US" sz="1000" dirty="0"/>
          </a:p>
        </p:txBody>
      </p:sp>
      <p:sp>
        <p:nvSpPr>
          <p:cNvPr id="30" name="Text 28"/>
          <p:cNvSpPr/>
          <p:nvPr/>
        </p:nvSpPr>
        <p:spPr>
          <a:xfrm>
            <a:off x="6172200" y="3977640"/>
            <a:ext cx="2377440" cy="548640"/>
          </a:xfrm>
          <a:prstGeom prst="rect">
            <a:avLst/>
          </a:prstGeom>
          <a:noFill/>
          <a:ln/>
        </p:spPr>
        <p:txBody>
          <a:bodyPr wrap="square" lIns="0" tIns="0" rIns="0" bIns="0" rtlCol="0" anchor="ctr"/>
          <a:lstStyle/>
          <a:p>
            <a:pPr indent="0" marL="0">
              <a:buNone/>
            </a:pPr>
            <a:r>
              <a:rPr lang="en-US" sz="1200" b="1" dirty="0">
                <a:solidFill>
                  <a:srgbClr val="16A34A"/>
                </a:solidFill>
                <a:latin typeface="Calibri" pitchFamily="34" charset="0"/>
                <a:ea typeface="Calibri" pitchFamily="34" charset="-122"/>
                <a:cs typeface="Calibri" pitchFamily="34" charset="-120"/>
              </a:rPr>
              <a:t>~INP &lt; 200ms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900" spc="200" kern="0" dirty="0">
                <a:solidFill>
                  <a:srgbClr val="6A95D6"/>
                </a:solidFill>
                <a:latin typeface="Calibri" pitchFamily="34" charset="0"/>
                <a:ea typeface="Calibri" pitchFamily="34" charset="-122"/>
                <a:cs typeface="Calibri" pitchFamily="34" charset="-120"/>
              </a:rPr>
              <a:t>08 · LECCIONES</a:t>
            </a:r>
            <a:endParaRPr lang="en-US" sz="900" dirty="0"/>
          </a:p>
        </p:txBody>
      </p:sp>
      <p:sp>
        <p:nvSpPr>
          <p:cNvPr id="3" name="Text 1"/>
          <p:cNvSpPr/>
          <p:nvPr/>
        </p:nvSpPr>
        <p:spPr>
          <a:xfrm>
            <a:off x="457200" y="59436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Lo que el caso nos enseñó</a:t>
            </a:r>
            <a:endParaRPr lang="en-US" sz="2800" dirty="0"/>
          </a:p>
        </p:txBody>
      </p:sp>
      <p:sp>
        <p:nvSpPr>
          <p:cNvPr id="4" name="Shape 2"/>
          <p:cNvSpPr/>
          <p:nvPr/>
        </p:nvSpPr>
        <p:spPr>
          <a:xfrm>
            <a:off x="365760" y="1325880"/>
            <a:ext cx="4114800" cy="1691640"/>
          </a:xfrm>
          <a:prstGeom prst="roundRect">
            <a:avLst>
              <a:gd name="adj" fmla="val 5405"/>
            </a:avLst>
          </a:prstGeom>
          <a:solidFill>
            <a:srgbClr val="0D2F48"/>
          </a:solidFill>
          <a:ln w="12700">
            <a:solidFill>
              <a:srgbClr val="0F3560"/>
            </a:solidFill>
            <a:prstDash val="solid"/>
          </a:ln>
        </p:spPr>
      </p:sp>
      <p:sp>
        <p:nvSpPr>
          <p:cNvPr id="5" name="Text 3"/>
          <p:cNvSpPr/>
          <p:nvPr/>
        </p:nvSpPr>
        <p:spPr>
          <a:xfrm>
            <a:off x="502920" y="1435608"/>
            <a:ext cx="3657600" cy="228600"/>
          </a:xfrm>
          <a:prstGeom prst="rect">
            <a:avLst/>
          </a:prstGeom>
          <a:noFill/>
          <a:ln/>
        </p:spPr>
        <p:txBody>
          <a:bodyPr wrap="square" lIns="0" tIns="0" rIns="0" bIns="0" rtlCol="0" anchor="ctr"/>
          <a:lstStyle/>
          <a:p>
            <a:pPr indent="0" marL="0">
              <a:buNone/>
            </a:pPr>
            <a:r>
              <a:rPr lang="en-US" sz="900" dirty="0">
                <a:solidFill>
                  <a:srgbClr val="6A95D6"/>
                </a:solidFill>
                <a:latin typeface="Courier New" pitchFamily="34" charset="0"/>
                <a:ea typeface="Courier New" pitchFamily="34" charset="-122"/>
                <a:cs typeface="Courier New" pitchFamily="34" charset="-120"/>
              </a:rPr>
              <a:t>T11 · Bug sistémico</a:t>
            </a:r>
            <a:endParaRPr lang="en-US" sz="900" dirty="0"/>
          </a:p>
        </p:txBody>
      </p:sp>
      <p:sp>
        <p:nvSpPr>
          <p:cNvPr id="6" name="Text 4"/>
          <p:cNvSpPr/>
          <p:nvPr/>
        </p:nvSpPr>
        <p:spPr>
          <a:xfrm>
            <a:off x="502920" y="1664208"/>
            <a:ext cx="3657600" cy="34747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El gate cazó un bug que el agente no vio</a:t>
            </a:r>
            <a:endParaRPr lang="en-US" sz="1200" dirty="0"/>
          </a:p>
        </p:txBody>
      </p:sp>
      <p:sp>
        <p:nvSpPr>
          <p:cNvPr id="7" name="Text 5"/>
          <p:cNvSpPr/>
          <p:nvPr/>
        </p:nvSpPr>
        <p:spPr>
          <a:xfrm>
            <a:off x="502920" y="2039112"/>
            <a:ext cx="3794760" cy="886968"/>
          </a:xfrm>
          <a:prstGeom prst="rect">
            <a:avLst/>
          </a:prstGeom>
          <a:noFill/>
          <a:ln/>
        </p:spPr>
        <p:txBody>
          <a:bodyPr wrap="square" lIns="0" tIns="0" rIns="0" bIns="0" rtlCol="0" anchor="ctr"/>
          <a:lstStyle/>
          <a:p>
            <a:pPr indent="0" marL="0">
              <a:buNone/>
            </a:pPr>
            <a:r>
              <a:rPr lang="en-US" sz="1050" dirty="0">
                <a:solidFill>
                  <a:srgbClr val="D5E4F5"/>
                </a:solidFill>
                <a:latin typeface="Calibri" pitchFamily="34" charset="0"/>
                <a:ea typeface="Calibri" pitchFamily="34" charset="-122"/>
                <a:cs typeface="Calibri" pitchFamily="34" charset="-120"/>
              </a:rPr>
              <a:t>Framer Motion v11.18.2 cambió la API de animaciones. El agente generó código que funcionaba en build pero fallaba en runtime. La revisión crítica detectó el bug antes de hacer commit. Sin gate: el bug llega a producción.</a:t>
            </a:r>
            <a:endParaRPr lang="en-US" sz="1050" dirty="0"/>
          </a:p>
        </p:txBody>
      </p:sp>
      <p:sp>
        <p:nvSpPr>
          <p:cNvPr id="8" name="Shape 6"/>
          <p:cNvSpPr/>
          <p:nvPr/>
        </p:nvSpPr>
        <p:spPr>
          <a:xfrm>
            <a:off x="4754880" y="1325880"/>
            <a:ext cx="4114800" cy="1691640"/>
          </a:xfrm>
          <a:prstGeom prst="roundRect">
            <a:avLst>
              <a:gd name="adj" fmla="val 5405"/>
            </a:avLst>
          </a:prstGeom>
          <a:solidFill>
            <a:srgbClr val="0D2F48"/>
          </a:solidFill>
          <a:ln w="12700">
            <a:solidFill>
              <a:srgbClr val="0F3560"/>
            </a:solidFill>
            <a:prstDash val="solid"/>
          </a:ln>
        </p:spPr>
      </p:sp>
      <p:sp>
        <p:nvSpPr>
          <p:cNvPr id="9" name="Text 7"/>
          <p:cNvSpPr/>
          <p:nvPr/>
        </p:nvSpPr>
        <p:spPr>
          <a:xfrm>
            <a:off x="4892040" y="1435608"/>
            <a:ext cx="3657600" cy="228600"/>
          </a:xfrm>
          <a:prstGeom prst="rect">
            <a:avLst/>
          </a:prstGeom>
          <a:noFill/>
          <a:ln/>
        </p:spPr>
        <p:txBody>
          <a:bodyPr wrap="square" lIns="0" tIns="0" rIns="0" bIns="0" rtlCol="0" anchor="ctr"/>
          <a:lstStyle/>
          <a:p>
            <a:pPr indent="0" marL="0">
              <a:buNone/>
            </a:pPr>
            <a:r>
              <a:rPr lang="en-US" sz="900" dirty="0">
                <a:solidFill>
                  <a:srgbClr val="6A95D6"/>
                </a:solidFill>
                <a:latin typeface="Courier New" pitchFamily="34" charset="0"/>
                <a:ea typeface="Courier New" pitchFamily="34" charset="-122"/>
                <a:cs typeface="Courier New" pitchFamily="34" charset="-120"/>
              </a:rPr>
              <a:t>T37 · Recalibración visual</a:t>
            </a:r>
            <a:endParaRPr lang="en-US" sz="900" dirty="0"/>
          </a:p>
        </p:txBody>
      </p:sp>
      <p:sp>
        <p:nvSpPr>
          <p:cNvPr id="10" name="Text 8"/>
          <p:cNvSpPr/>
          <p:nvPr/>
        </p:nvSpPr>
        <p:spPr>
          <a:xfrm>
            <a:off x="4892040" y="1664208"/>
            <a:ext cx="3657600" cy="34747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La IA tiende a sobre-usar el color de acción</a:t>
            </a:r>
            <a:endParaRPr lang="en-US" sz="1200" dirty="0"/>
          </a:p>
        </p:txBody>
      </p:sp>
      <p:sp>
        <p:nvSpPr>
          <p:cNvPr id="11" name="Text 9"/>
          <p:cNvSpPr/>
          <p:nvPr/>
        </p:nvSpPr>
        <p:spPr>
          <a:xfrm>
            <a:off x="4892040" y="2039112"/>
            <a:ext cx="3794760" cy="886968"/>
          </a:xfrm>
          <a:prstGeom prst="rect">
            <a:avLst/>
          </a:prstGeom>
          <a:noFill/>
          <a:ln/>
        </p:spPr>
        <p:txBody>
          <a:bodyPr wrap="square" lIns="0" tIns="0" rIns="0" bIns="0" rtlCol="0" anchor="ctr"/>
          <a:lstStyle/>
          <a:p>
            <a:pPr indent="0" marL="0">
              <a:buNone/>
            </a:pPr>
            <a:r>
              <a:rPr lang="en-US" sz="1050" dirty="0">
                <a:solidFill>
                  <a:srgbClr val="D5E4F5"/>
                </a:solidFill>
                <a:latin typeface="Calibri" pitchFamily="34" charset="0"/>
                <a:ea typeface="Calibri" pitchFamily="34" charset="-122"/>
                <a:cs typeface="Calibri" pitchFamily="34" charset="-120"/>
              </a:rPr>
              <a:t>El agente pintó demasiados CTAs en verde WhatsApp, haciendo que el sitio pareciera una landing de mensajería. La revisión con «ojos de usuario» identificó el problema. Lección: el humano debe evaluar el output como cliente, no como autor.</a:t>
            </a:r>
            <a:endParaRPr lang="en-US" sz="1050" dirty="0"/>
          </a:p>
        </p:txBody>
      </p:sp>
      <p:sp>
        <p:nvSpPr>
          <p:cNvPr id="12" name="Shape 10"/>
          <p:cNvSpPr/>
          <p:nvPr/>
        </p:nvSpPr>
        <p:spPr>
          <a:xfrm>
            <a:off x="365760" y="3154680"/>
            <a:ext cx="4114800" cy="1691640"/>
          </a:xfrm>
          <a:prstGeom prst="roundRect">
            <a:avLst>
              <a:gd name="adj" fmla="val 5405"/>
            </a:avLst>
          </a:prstGeom>
          <a:solidFill>
            <a:srgbClr val="0D2F48"/>
          </a:solidFill>
          <a:ln w="12700">
            <a:solidFill>
              <a:srgbClr val="0F3560"/>
            </a:solidFill>
            <a:prstDash val="solid"/>
          </a:ln>
        </p:spPr>
      </p:sp>
      <p:sp>
        <p:nvSpPr>
          <p:cNvPr id="13" name="Text 11"/>
          <p:cNvSpPr/>
          <p:nvPr/>
        </p:nvSpPr>
        <p:spPr>
          <a:xfrm>
            <a:off x="502920" y="3264408"/>
            <a:ext cx="3657600" cy="228600"/>
          </a:xfrm>
          <a:prstGeom prst="rect">
            <a:avLst/>
          </a:prstGeom>
          <a:noFill/>
          <a:ln/>
        </p:spPr>
        <p:txBody>
          <a:bodyPr wrap="square" lIns="0" tIns="0" rIns="0" bIns="0" rtlCol="0" anchor="ctr"/>
          <a:lstStyle/>
          <a:p>
            <a:pPr indent="0" marL="0">
              <a:buNone/>
            </a:pPr>
            <a:r>
              <a:rPr lang="en-US" sz="900" dirty="0">
                <a:solidFill>
                  <a:srgbClr val="6A95D6"/>
                </a:solidFill>
                <a:latin typeface="Courier New" pitchFamily="34" charset="0"/>
                <a:ea typeface="Courier New" pitchFamily="34" charset="-122"/>
                <a:cs typeface="Courier New" pitchFamily="34" charset="-120"/>
              </a:rPr>
              <a:t>T01 · Color de marca</a:t>
            </a:r>
            <a:endParaRPr lang="en-US" sz="900" dirty="0"/>
          </a:p>
        </p:txBody>
      </p:sp>
      <p:sp>
        <p:nvSpPr>
          <p:cNvPr id="14" name="Text 12"/>
          <p:cNvSpPr/>
          <p:nvPr/>
        </p:nvSpPr>
        <p:spPr>
          <a:xfrm>
            <a:off x="502920" y="3493008"/>
            <a:ext cx="3657600" cy="34747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Los valores «aproximados» no son suficientes</a:t>
            </a:r>
            <a:endParaRPr lang="en-US" sz="1200" dirty="0"/>
          </a:p>
        </p:txBody>
      </p:sp>
      <p:sp>
        <p:nvSpPr>
          <p:cNvPr id="15" name="Text 13"/>
          <p:cNvSpPr/>
          <p:nvPr/>
        </p:nvSpPr>
        <p:spPr>
          <a:xfrm>
            <a:off x="502920" y="3867912"/>
            <a:ext cx="3794760" cy="886968"/>
          </a:xfrm>
          <a:prstGeom prst="rect">
            <a:avLst/>
          </a:prstGeom>
          <a:noFill/>
          <a:ln/>
        </p:spPr>
        <p:txBody>
          <a:bodyPr wrap="square" lIns="0" tIns="0" rIns="0" bIns="0" rtlCol="0" anchor="ctr"/>
          <a:lstStyle/>
          <a:p>
            <a:pPr indent="0" marL="0">
              <a:buNone/>
            </a:pPr>
            <a:r>
              <a:rPr lang="en-US" sz="1050" dirty="0">
                <a:solidFill>
                  <a:srgbClr val="D5E4F5"/>
                </a:solidFill>
                <a:latin typeface="Calibri" pitchFamily="34" charset="0"/>
                <a:ea typeface="Calibri" pitchFamily="34" charset="-122"/>
                <a:cs typeface="Calibri" pitchFamily="34" charset="-120"/>
              </a:rPr>
              <a:t>Los specs iniciales tenían #1B3869 como color primario. El análisis PIL del logo.png reveló #123C6E — diferencia visible. Sin verificación de fuente primaria, el site habría tenido un navy ligeramente incorrecto en toda la UI.</a:t>
            </a:r>
            <a:endParaRPr lang="en-US" sz="1050" dirty="0"/>
          </a:p>
        </p:txBody>
      </p:sp>
      <p:sp>
        <p:nvSpPr>
          <p:cNvPr id="16" name="Shape 14"/>
          <p:cNvSpPr/>
          <p:nvPr/>
        </p:nvSpPr>
        <p:spPr>
          <a:xfrm>
            <a:off x="4754880" y="3154680"/>
            <a:ext cx="4114800" cy="1691640"/>
          </a:xfrm>
          <a:prstGeom prst="roundRect">
            <a:avLst>
              <a:gd name="adj" fmla="val 5405"/>
            </a:avLst>
          </a:prstGeom>
          <a:solidFill>
            <a:srgbClr val="0D2F48"/>
          </a:solidFill>
          <a:ln w="12700">
            <a:solidFill>
              <a:srgbClr val="0F3560"/>
            </a:solidFill>
            <a:prstDash val="solid"/>
          </a:ln>
        </p:spPr>
      </p:sp>
      <p:sp>
        <p:nvSpPr>
          <p:cNvPr id="17" name="Text 15"/>
          <p:cNvSpPr/>
          <p:nvPr/>
        </p:nvSpPr>
        <p:spPr>
          <a:xfrm>
            <a:off x="4892040" y="3264408"/>
            <a:ext cx="3657600" cy="228600"/>
          </a:xfrm>
          <a:prstGeom prst="rect">
            <a:avLst/>
          </a:prstGeom>
          <a:noFill/>
          <a:ln/>
        </p:spPr>
        <p:txBody>
          <a:bodyPr wrap="square" lIns="0" tIns="0" rIns="0" bIns="0" rtlCol="0" anchor="ctr"/>
          <a:lstStyle/>
          <a:p>
            <a:pPr indent="0" marL="0">
              <a:buNone/>
            </a:pPr>
            <a:r>
              <a:rPr lang="en-US" sz="900" dirty="0">
                <a:solidFill>
                  <a:srgbClr val="6A95D6"/>
                </a:solidFill>
                <a:latin typeface="Courier New" pitchFamily="34" charset="0"/>
                <a:ea typeface="Courier New" pitchFamily="34" charset="-122"/>
                <a:cs typeface="Courier New" pitchFamily="34" charset="-120"/>
              </a:rPr>
              <a:t>Proceso general</a:t>
            </a:r>
            <a:endParaRPr lang="en-US" sz="900" dirty="0"/>
          </a:p>
        </p:txBody>
      </p:sp>
      <p:sp>
        <p:nvSpPr>
          <p:cNvPr id="18" name="Text 16"/>
          <p:cNvSpPr/>
          <p:nvPr/>
        </p:nvSpPr>
        <p:spPr>
          <a:xfrm>
            <a:off x="4892040" y="3493008"/>
            <a:ext cx="3657600" cy="34747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Una tarea a la vez protege la calidad</a:t>
            </a:r>
            <a:endParaRPr lang="en-US" sz="1200" dirty="0"/>
          </a:p>
        </p:txBody>
      </p:sp>
      <p:sp>
        <p:nvSpPr>
          <p:cNvPr id="19" name="Text 17"/>
          <p:cNvSpPr/>
          <p:nvPr/>
        </p:nvSpPr>
        <p:spPr>
          <a:xfrm>
            <a:off x="4892040" y="3867912"/>
            <a:ext cx="3794760" cy="886968"/>
          </a:xfrm>
          <a:prstGeom prst="rect">
            <a:avLst/>
          </a:prstGeom>
          <a:noFill/>
          <a:ln/>
        </p:spPr>
        <p:txBody>
          <a:bodyPr wrap="square" lIns="0" tIns="0" rIns="0" bIns="0" rtlCol="0" anchor="ctr"/>
          <a:lstStyle/>
          <a:p>
            <a:pPr indent="0" marL="0">
              <a:buNone/>
            </a:pPr>
            <a:r>
              <a:rPr lang="en-US" sz="1050" dirty="0">
                <a:solidFill>
                  <a:srgbClr val="D5E4F5"/>
                </a:solidFill>
                <a:latin typeface="Calibri" pitchFamily="34" charset="0"/>
                <a:ea typeface="Calibri" pitchFamily="34" charset="-122"/>
                <a:cs typeface="Calibri" pitchFamily="34" charset="-120"/>
              </a:rPr>
              <a:t>Cuando intentamos acelerar ejecutando dos tareas sin gate intermedio, aparecieron inconsistencias que costaron más tiempo de arreglar que el tiempo «ahorrado». La restricción de una tarea atómica a la vez es una feature, no un límite.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900" spc="200" kern="0" dirty="0">
                <a:solidFill>
                  <a:srgbClr val="6B7280"/>
                </a:solidFill>
                <a:latin typeface="Calibri" pitchFamily="34" charset="0"/>
                <a:ea typeface="Calibri" pitchFamily="34" charset="-122"/>
                <a:cs typeface="Calibri" pitchFamily="34" charset="-120"/>
              </a:rPr>
              <a:t>09 · ADOPCIÓN</a:t>
            </a:r>
            <a:endParaRPr lang="en-US" sz="900" dirty="0"/>
          </a:p>
        </p:txBody>
      </p:sp>
      <p:sp>
        <p:nvSpPr>
          <p:cNvPr id="3" name="Text 1"/>
          <p:cNvSpPr/>
          <p:nvPr/>
        </p:nvSpPr>
        <p:spPr>
          <a:xfrm>
            <a:off x="457200" y="594360"/>
            <a:ext cx="8229600" cy="548640"/>
          </a:xfrm>
          <a:prstGeom prst="rect">
            <a:avLst/>
          </a:prstGeom>
          <a:noFill/>
          <a:ln/>
        </p:spPr>
        <p:txBody>
          <a:bodyPr wrap="square" lIns="0" tIns="0" rIns="0" bIns="0" rtlCol="0" anchor="ctr"/>
          <a:lstStyle/>
          <a:p>
            <a:pPr indent="0" marL="0">
              <a:buNone/>
            </a:pPr>
            <a:r>
              <a:rPr lang="en-US" sz="2600" b="1" dirty="0">
                <a:solidFill>
                  <a:srgbClr val="111827"/>
                </a:solidFill>
                <a:latin typeface="Cambria" pitchFamily="34" charset="0"/>
                <a:ea typeface="Cambria" pitchFamily="34" charset="-122"/>
                <a:cs typeface="Cambria" pitchFamily="34" charset="-120"/>
              </a:rPr>
              <a:t>Cómo adoptar SDD en DACTA</a:t>
            </a:r>
            <a:endParaRPr lang="en-US" sz="2600" dirty="0"/>
          </a:p>
        </p:txBody>
      </p:sp>
      <p:sp>
        <p:nvSpPr>
          <p:cNvPr id="4" name="Shape 2"/>
          <p:cNvSpPr/>
          <p:nvPr/>
        </p:nvSpPr>
        <p:spPr>
          <a:xfrm>
            <a:off x="320040" y="1325880"/>
            <a:ext cx="2697480" cy="3566160"/>
          </a:xfrm>
          <a:prstGeom prst="roundRect">
            <a:avLst>
              <a:gd name="adj" fmla="val 3390"/>
            </a:avLst>
          </a:prstGeom>
          <a:solidFill>
            <a:srgbClr val="0A192F"/>
          </a:solidFill>
          <a:ln w="12700">
            <a:solidFill>
              <a:srgbClr val="123C6E"/>
            </a:solidFill>
            <a:prstDash val="solid"/>
          </a:ln>
          <a:effectLst>
            <a:outerShdw sx="100000" sy="100000" kx="0" ky="0" algn="bl" rotWithShape="0" blurRad="101600" dist="38100" dir="2700000">
              <a:srgbClr val="000000">
                <a:alpha val="14000"/>
              </a:srgbClr>
            </a:outerShdw>
          </a:effectLst>
        </p:spPr>
      </p:sp>
      <p:sp>
        <p:nvSpPr>
          <p:cNvPr id="5" name="Text 3"/>
          <p:cNvSpPr/>
          <p:nvPr/>
        </p:nvSpPr>
        <p:spPr>
          <a:xfrm>
            <a:off x="457200" y="1463040"/>
            <a:ext cx="242316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Herramientas</a:t>
            </a:r>
            <a:endParaRPr lang="en-US" sz="1400" dirty="0"/>
          </a:p>
        </p:txBody>
      </p:sp>
      <p:sp>
        <p:nvSpPr>
          <p:cNvPr id="6" name="Shape 4"/>
          <p:cNvSpPr/>
          <p:nvPr/>
        </p:nvSpPr>
        <p:spPr>
          <a:xfrm>
            <a:off x="457200" y="1874520"/>
            <a:ext cx="2423160" cy="27432"/>
          </a:xfrm>
          <a:prstGeom prst="rect">
            <a:avLst/>
          </a:prstGeom>
          <a:solidFill>
            <a:srgbClr val="123C6E"/>
          </a:solidFill>
          <a:ln w="12700">
            <a:solidFill>
              <a:srgbClr val="123C6E"/>
            </a:solidFill>
            <a:prstDash val="solid"/>
          </a:ln>
        </p:spPr>
      </p:sp>
      <p:sp>
        <p:nvSpPr>
          <p:cNvPr id="7" name="Text 5"/>
          <p:cNvSpPr/>
          <p:nvPr/>
        </p:nvSpPr>
        <p:spPr>
          <a:xfrm>
            <a:off x="457200" y="1965960"/>
            <a:ext cx="2423160" cy="2788920"/>
          </a:xfrm>
          <a:prstGeom prst="rect">
            <a:avLst/>
          </a:prstGeom>
          <a:noFill/>
          <a:ln/>
        </p:spPr>
        <p:txBody>
          <a:bodyPr wrap="square" rtlCol="0" anchor="ctr"/>
          <a:lstStyle/>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Claude Code (Plan Mode activado siempre)</a:t>
            </a:r>
            <a:endParaRPr lang="en-US" sz="1050" dirty="0"/>
          </a:p>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CLAUDE.md en la raíz — identidad + reglas del proyecto</a:t>
            </a:r>
            <a:endParaRPr lang="en-US" sz="1050" dirty="0"/>
          </a:p>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specs/ — carpeta de especificaciones viva</a:t>
            </a:r>
            <a:endParaRPr lang="en-US" sz="1050" dirty="0"/>
          </a:p>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Git con commits por tarea (T## formato)</a:t>
            </a:r>
            <a:endParaRPr lang="en-US" sz="1050" dirty="0"/>
          </a:p>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GitHub + Vercel para gates de PR automáticos</a:t>
            </a:r>
            <a:endParaRPr lang="en-US" sz="1050" dirty="0"/>
          </a:p>
        </p:txBody>
      </p:sp>
      <p:sp>
        <p:nvSpPr>
          <p:cNvPr id="8" name="Shape 6"/>
          <p:cNvSpPr/>
          <p:nvPr/>
        </p:nvSpPr>
        <p:spPr>
          <a:xfrm>
            <a:off x="3200400" y="1325880"/>
            <a:ext cx="2697480" cy="3566160"/>
          </a:xfrm>
          <a:prstGeom prst="roundRect">
            <a:avLst>
              <a:gd name="adj" fmla="val 3390"/>
            </a:avLst>
          </a:prstGeom>
          <a:solidFill>
            <a:srgbClr val="0D2F48"/>
          </a:solidFill>
          <a:ln w="12700">
            <a:solidFill>
              <a:srgbClr val="123C6E"/>
            </a:solidFill>
            <a:prstDash val="solid"/>
          </a:ln>
          <a:effectLst>
            <a:outerShdw sx="100000" sy="100000" kx="0" ky="0" algn="bl" rotWithShape="0" blurRad="101600" dist="38100" dir="2700000">
              <a:srgbClr val="000000">
                <a:alpha val="14000"/>
              </a:srgbClr>
            </a:outerShdw>
          </a:effectLst>
        </p:spPr>
      </p:sp>
      <p:sp>
        <p:nvSpPr>
          <p:cNvPr id="9" name="Text 7"/>
          <p:cNvSpPr/>
          <p:nvPr/>
        </p:nvSpPr>
        <p:spPr>
          <a:xfrm>
            <a:off x="3337560" y="1463040"/>
            <a:ext cx="242316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Hábitos</a:t>
            </a:r>
            <a:endParaRPr lang="en-US" sz="1400" dirty="0"/>
          </a:p>
        </p:txBody>
      </p:sp>
      <p:sp>
        <p:nvSpPr>
          <p:cNvPr id="10" name="Shape 8"/>
          <p:cNvSpPr/>
          <p:nvPr/>
        </p:nvSpPr>
        <p:spPr>
          <a:xfrm>
            <a:off x="3337560" y="1874520"/>
            <a:ext cx="2423160" cy="27432"/>
          </a:xfrm>
          <a:prstGeom prst="rect">
            <a:avLst/>
          </a:prstGeom>
          <a:solidFill>
            <a:srgbClr val="123C6E"/>
          </a:solidFill>
          <a:ln w="12700">
            <a:solidFill>
              <a:srgbClr val="123C6E"/>
            </a:solidFill>
            <a:prstDash val="solid"/>
          </a:ln>
        </p:spPr>
      </p:sp>
      <p:sp>
        <p:nvSpPr>
          <p:cNvPr id="11" name="Text 9"/>
          <p:cNvSpPr/>
          <p:nvPr/>
        </p:nvSpPr>
        <p:spPr>
          <a:xfrm>
            <a:off x="3337560" y="1965960"/>
            <a:ext cx="2423160" cy="2788920"/>
          </a:xfrm>
          <a:prstGeom prst="rect">
            <a:avLst/>
          </a:prstGeom>
          <a:noFill/>
          <a:ln/>
        </p:spPr>
        <p:txBody>
          <a:bodyPr wrap="square" rtlCol="0" anchor="ctr"/>
          <a:lstStyle/>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Antes de pedir código: redactar el porqué en la spec</a:t>
            </a:r>
            <a:endParaRPr lang="en-US" sz="1050" dirty="0"/>
          </a:p>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Aprobar el PLAN, no el código — leer antes de ejecutar</a:t>
            </a:r>
            <a:endParaRPr lang="en-US" sz="1050" dirty="0"/>
          </a:p>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Verificar con ojos de usuario: DevTools 360/768/1280px</a:t>
            </a:r>
            <a:endParaRPr lang="en-US" sz="1050" dirty="0"/>
          </a:p>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Una tarea completada = un commit = un número de tarea</a:t>
            </a:r>
            <a:endParaRPr lang="en-US" sz="1050" dirty="0"/>
          </a:p>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Si cambia la intención → actualizar spec ANTES del código</a:t>
            </a:r>
            <a:endParaRPr lang="en-US" sz="1050" dirty="0"/>
          </a:p>
        </p:txBody>
      </p:sp>
      <p:sp>
        <p:nvSpPr>
          <p:cNvPr id="12" name="Shape 10"/>
          <p:cNvSpPr/>
          <p:nvPr/>
        </p:nvSpPr>
        <p:spPr>
          <a:xfrm>
            <a:off x="6080760" y="1325880"/>
            <a:ext cx="2697480" cy="3566160"/>
          </a:xfrm>
          <a:prstGeom prst="roundRect">
            <a:avLst>
              <a:gd name="adj" fmla="val 3390"/>
            </a:avLst>
          </a:prstGeom>
          <a:solidFill>
            <a:srgbClr val="0F3560"/>
          </a:solidFill>
          <a:ln w="12700">
            <a:solidFill>
              <a:srgbClr val="123C6E"/>
            </a:solidFill>
            <a:prstDash val="solid"/>
          </a:ln>
          <a:effectLst>
            <a:outerShdw sx="100000" sy="100000" kx="0" ky="0" algn="bl" rotWithShape="0" blurRad="101600" dist="38100" dir="2700000">
              <a:srgbClr val="000000">
                <a:alpha val="14000"/>
              </a:srgbClr>
            </a:outerShdw>
          </a:effectLst>
        </p:spPr>
      </p:sp>
      <p:sp>
        <p:nvSpPr>
          <p:cNvPr id="13" name="Text 11"/>
          <p:cNvSpPr/>
          <p:nvPr/>
        </p:nvSpPr>
        <p:spPr>
          <a:xfrm>
            <a:off x="6217920" y="1463040"/>
            <a:ext cx="242316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Anti-patrones</a:t>
            </a:r>
            <a:endParaRPr lang="en-US" sz="1400" dirty="0"/>
          </a:p>
        </p:txBody>
      </p:sp>
      <p:sp>
        <p:nvSpPr>
          <p:cNvPr id="14" name="Shape 12"/>
          <p:cNvSpPr/>
          <p:nvPr/>
        </p:nvSpPr>
        <p:spPr>
          <a:xfrm>
            <a:off x="6217920" y="1874520"/>
            <a:ext cx="2423160" cy="27432"/>
          </a:xfrm>
          <a:prstGeom prst="rect">
            <a:avLst/>
          </a:prstGeom>
          <a:solidFill>
            <a:srgbClr val="123C6E"/>
          </a:solidFill>
          <a:ln w="12700">
            <a:solidFill>
              <a:srgbClr val="123C6E"/>
            </a:solidFill>
            <a:prstDash val="solid"/>
          </a:ln>
        </p:spPr>
      </p:sp>
      <p:sp>
        <p:nvSpPr>
          <p:cNvPr id="15" name="Text 13"/>
          <p:cNvSpPr/>
          <p:nvPr/>
        </p:nvSpPr>
        <p:spPr>
          <a:xfrm>
            <a:off x="6217920" y="1965960"/>
            <a:ext cx="2423160" cy="2788920"/>
          </a:xfrm>
          <a:prstGeom prst="rect">
            <a:avLst/>
          </a:prstGeom>
          <a:noFill/>
          <a:ln/>
        </p:spPr>
        <p:txBody>
          <a:bodyPr wrap="square" rtlCol="0" anchor="ctr"/>
          <a:lstStyle/>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Pedir al agente que 'implemente' sin especificación previa</a:t>
            </a:r>
            <a:endParaRPr lang="en-US" sz="1050" dirty="0"/>
          </a:p>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Aprobar sin leer el plan ('dale, que yo confío')</a:t>
            </a:r>
            <a:endParaRPr lang="en-US" sz="1050" dirty="0"/>
          </a:p>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Hacer dos tareas en paralelo sin gate entre ellas</a:t>
            </a:r>
            <a:endParaRPr lang="en-US" sz="1050" dirty="0"/>
          </a:p>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Dejar [DATO REAL PENDIENTE] visible en producción</a:t>
            </a:r>
            <a:endParaRPr lang="en-US" sz="1050" dirty="0"/>
          </a:p>
          <a:p>
            <a:pPr marL="342900" indent="-342900">
              <a:spcAft>
                <a:spcPts val="500"/>
              </a:spcAft>
              <a:buSzPct val="100000"/>
              <a:buChar char="•"/>
            </a:pPr>
            <a:r>
              <a:rPr lang="en-US" sz="1050" dirty="0">
                <a:solidFill>
                  <a:srgbClr val="D5E4F5"/>
                </a:solidFill>
                <a:latin typeface="Calibri" pitchFamily="34" charset="0"/>
                <a:ea typeface="Calibri" pitchFamily="34" charset="-122"/>
                <a:cs typeface="Calibri" pitchFamily="34" charset="-120"/>
              </a:rPr>
              <a:t>Inventar métricas, cifras o testimonios para el demo</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D1C"/>
        </a:solidFill>
      </p:bgPr>
    </p:bg>
    <p:spTree>
      <p:nvGrpSpPr>
        <p:cNvPr id="1" name=""/>
        <p:cNvGrpSpPr/>
        <p:nvPr/>
      </p:nvGrpSpPr>
      <p:grpSpPr>
        <a:xfrm>
          <a:off x="0" y="0"/>
          <a:ext cx="0" cy="0"/>
          <a:chOff x="0" y="0"/>
          <a:chExt cx="0" cy="0"/>
        </a:xfrm>
      </p:grpSpPr>
      <p:sp>
        <p:nvSpPr>
          <p:cNvPr id="2" name="Shape 0"/>
          <p:cNvSpPr/>
          <p:nvPr/>
        </p:nvSpPr>
        <p:spPr>
          <a:xfrm>
            <a:off x="5943600" y="-914400"/>
            <a:ext cx="5029200" cy="5029200"/>
          </a:xfrm>
          <a:prstGeom prst="ellipse">
            <a:avLst/>
          </a:prstGeom>
          <a:solidFill>
            <a:srgbClr val="0A192F"/>
          </a:solidFill>
          <a:ln w="12700">
            <a:solidFill>
              <a:srgbClr val="0D2F48"/>
            </a:solidFill>
            <a:prstDash val="solid"/>
          </a:ln>
        </p:spPr>
      </p:sp>
      <p:sp>
        <p:nvSpPr>
          <p:cNvPr id="3" name="Text 1"/>
          <p:cNvSpPr/>
          <p:nvPr/>
        </p:nvSpPr>
        <p:spPr>
          <a:xfrm>
            <a:off x="457200" y="914400"/>
            <a:ext cx="68580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La IA no reemplaza al arquitecto.</a:t>
            </a:r>
            <a:endParaRPr lang="en-US" sz="3000" dirty="0"/>
          </a:p>
        </p:txBody>
      </p:sp>
      <p:sp>
        <p:nvSpPr>
          <p:cNvPr id="4" name="Text 2"/>
          <p:cNvSpPr/>
          <p:nvPr/>
        </p:nvSpPr>
        <p:spPr>
          <a:xfrm>
            <a:off x="457200" y="1645920"/>
            <a:ext cx="6858000" cy="731520"/>
          </a:xfrm>
          <a:prstGeom prst="rect">
            <a:avLst/>
          </a:prstGeom>
          <a:noFill/>
          <a:ln/>
        </p:spPr>
        <p:txBody>
          <a:bodyPr wrap="square" lIns="0" tIns="0" rIns="0" bIns="0" rtlCol="0" anchor="ctr"/>
          <a:lstStyle/>
          <a:p>
            <a:pPr indent="0" marL="0">
              <a:buNone/>
            </a:pPr>
            <a:r>
              <a:rPr lang="en-US" sz="3000" b="1" dirty="0">
                <a:solidFill>
                  <a:srgbClr val="6A95D6"/>
                </a:solidFill>
                <a:latin typeface="Cambria" pitchFamily="34" charset="0"/>
                <a:ea typeface="Cambria" pitchFamily="34" charset="-122"/>
                <a:cs typeface="Cambria" pitchFamily="34" charset="-120"/>
              </a:rPr>
              <a:t>Le da superpoderes.</a:t>
            </a:r>
            <a:endParaRPr lang="en-US" sz="3000" dirty="0"/>
          </a:p>
        </p:txBody>
      </p:sp>
      <p:sp>
        <p:nvSpPr>
          <p:cNvPr id="5" name="Shape 3"/>
          <p:cNvSpPr/>
          <p:nvPr/>
        </p:nvSpPr>
        <p:spPr>
          <a:xfrm>
            <a:off x="457200" y="2468880"/>
            <a:ext cx="2743200" cy="36576"/>
          </a:xfrm>
          <a:prstGeom prst="rect">
            <a:avLst/>
          </a:prstGeom>
          <a:solidFill>
            <a:srgbClr val="123C6E"/>
          </a:solidFill>
          <a:ln w="12700">
            <a:solidFill>
              <a:srgbClr val="123C6E"/>
            </a:solidFill>
            <a:prstDash val="solid"/>
          </a:ln>
        </p:spPr>
      </p:sp>
      <p:sp>
        <p:nvSpPr>
          <p:cNvPr id="6" name="Text 4"/>
          <p:cNvSpPr/>
          <p:nvPr/>
        </p:nvSpPr>
        <p:spPr>
          <a:xfrm>
            <a:off x="457200" y="2606040"/>
            <a:ext cx="6400800" cy="731520"/>
          </a:xfrm>
          <a:prstGeom prst="rect">
            <a:avLst/>
          </a:prstGeom>
          <a:noFill/>
          <a:ln/>
        </p:spPr>
        <p:txBody>
          <a:bodyPr wrap="square" lIns="0" tIns="0" rIns="0" bIns="0" rtlCol="0" anchor="ctr"/>
          <a:lstStyle/>
          <a:p>
            <a:pPr indent="0" marL="0">
              <a:buNone/>
            </a:pPr>
            <a:r>
              <a:rPr lang="en-US" sz="1500" dirty="0">
                <a:solidFill>
                  <a:srgbClr val="6A95D6"/>
                </a:solidFill>
                <a:latin typeface="Calibri" pitchFamily="34" charset="0"/>
                <a:ea typeface="Calibri" pitchFamily="34" charset="-122"/>
                <a:cs typeface="Calibri" pitchFamily="34" charset="-120"/>
              </a:rPr>
              <a:t>SDD es la metodología que convierte la asistencia de IA en ingeniería profesional y auditable.</a:t>
            </a:r>
            <a:endParaRPr lang="en-US" sz="1500" dirty="0"/>
          </a:p>
        </p:txBody>
      </p:sp>
      <p:sp>
        <p:nvSpPr>
          <p:cNvPr id="7" name="Shape 5"/>
          <p:cNvSpPr/>
          <p:nvPr/>
        </p:nvSpPr>
        <p:spPr>
          <a:xfrm>
            <a:off x="457200" y="3520440"/>
            <a:ext cx="2560320" cy="502920"/>
          </a:xfrm>
          <a:prstGeom prst="roundRect">
            <a:avLst>
              <a:gd name="adj" fmla="val 14545"/>
            </a:avLst>
          </a:prstGeom>
          <a:solidFill>
            <a:srgbClr val="0F3560"/>
          </a:solidFill>
          <a:ln w="12700">
            <a:solidFill>
              <a:srgbClr val="123C6E"/>
            </a:solidFill>
            <a:prstDash val="solid"/>
          </a:ln>
        </p:spPr>
      </p:sp>
      <p:sp>
        <p:nvSpPr>
          <p:cNvPr id="8" name="Text 6"/>
          <p:cNvSpPr/>
          <p:nvPr/>
        </p:nvSpPr>
        <p:spPr>
          <a:xfrm>
            <a:off x="457200" y="3520440"/>
            <a:ext cx="256032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Spec antes que código</a:t>
            </a:r>
            <a:endParaRPr lang="en-US" sz="1150" dirty="0"/>
          </a:p>
        </p:txBody>
      </p:sp>
      <p:sp>
        <p:nvSpPr>
          <p:cNvPr id="9" name="Shape 7"/>
          <p:cNvSpPr/>
          <p:nvPr/>
        </p:nvSpPr>
        <p:spPr>
          <a:xfrm>
            <a:off x="3200400" y="3520440"/>
            <a:ext cx="2560320" cy="502920"/>
          </a:xfrm>
          <a:prstGeom prst="roundRect">
            <a:avLst>
              <a:gd name="adj" fmla="val 14545"/>
            </a:avLst>
          </a:prstGeom>
          <a:solidFill>
            <a:srgbClr val="0F3560"/>
          </a:solidFill>
          <a:ln w="12700">
            <a:solidFill>
              <a:srgbClr val="123C6E"/>
            </a:solidFill>
            <a:prstDash val="solid"/>
          </a:ln>
        </p:spPr>
      </p:sp>
      <p:sp>
        <p:nvSpPr>
          <p:cNvPr id="10" name="Text 8"/>
          <p:cNvSpPr/>
          <p:nvPr/>
        </p:nvSpPr>
        <p:spPr>
          <a:xfrm>
            <a:off x="3200400" y="3520440"/>
            <a:ext cx="256032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Gate humano en cada hito</a:t>
            </a:r>
            <a:endParaRPr lang="en-US" sz="1150" dirty="0"/>
          </a:p>
        </p:txBody>
      </p:sp>
      <p:sp>
        <p:nvSpPr>
          <p:cNvPr id="11" name="Shape 9"/>
          <p:cNvSpPr/>
          <p:nvPr/>
        </p:nvSpPr>
        <p:spPr>
          <a:xfrm>
            <a:off x="5943600" y="3520440"/>
            <a:ext cx="2560320" cy="502920"/>
          </a:xfrm>
          <a:prstGeom prst="roundRect">
            <a:avLst>
              <a:gd name="adj" fmla="val 14545"/>
            </a:avLst>
          </a:prstGeom>
          <a:solidFill>
            <a:srgbClr val="0F3560"/>
          </a:solidFill>
          <a:ln w="12700">
            <a:solidFill>
              <a:srgbClr val="123C6E"/>
            </a:solidFill>
            <a:prstDash val="solid"/>
          </a:ln>
        </p:spPr>
      </p:sp>
      <p:sp>
        <p:nvSpPr>
          <p:cNvPr id="12" name="Text 10"/>
          <p:cNvSpPr/>
          <p:nvPr/>
        </p:nvSpPr>
        <p:spPr>
          <a:xfrm>
            <a:off x="5943600" y="3520440"/>
            <a:ext cx="256032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Commits auditables T##</a:t>
            </a:r>
            <a:endParaRPr lang="en-US" sz="1150" dirty="0"/>
          </a:p>
        </p:txBody>
      </p:sp>
      <p:sp>
        <p:nvSpPr>
          <p:cNvPr id="13" name="Text 11"/>
          <p:cNvSpPr/>
          <p:nvPr/>
        </p:nvSpPr>
        <p:spPr>
          <a:xfrm>
            <a:off x="457200" y="4480560"/>
            <a:ext cx="8229600" cy="384048"/>
          </a:xfrm>
          <a:prstGeom prst="rect">
            <a:avLst/>
          </a:prstGeom>
          <a:noFill/>
          <a:ln/>
        </p:spPr>
        <p:txBody>
          <a:bodyPr wrap="square" lIns="0" tIns="0" rIns="0" bIns="0" rtlCol="0" anchor="ctr"/>
          <a:lstStyle/>
          <a:p>
            <a:pPr algn="ctr" indent="0" marL="0">
              <a:buNone/>
            </a:pPr>
            <a:r>
              <a:rPr lang="en-US" sz="900" dirty="0">
                <a:solidFill>
                  <a:srgbClr val="6A95D6"/>
                </a:solidFill>
                <a:latin typeface="Calibri" pitchFamily="34" charset="0"/>
                <a:ea typeface="Calibri" pitchFamily="34" charset="-122"/>
                <a:cs typeface="Calibri" pitchFamily="34" charset="-120"/>
              </a:rPr>
              <a:t>Caso: unidosporgps.pe · Stack: Next.js 14 + Supabase + Vercel · 38 tareas · Lighthouse 99/96/100/100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SDD — Ingeniería Asistida por IA | Caso Unidos por GPS</dc:title>
  <dc:subject>PptxGenJS Presentation</dc:subject>
  <dc:creator>DACTA</dc:creator>
  <cp:lastModifiedBy>DACTA</cp:lastModifiedBy>
  <cp:revision>1</cp:revision>
  <dcterms:created xsi:type="dcterms:W3CDTF">2026-06-16T04:22:13Z</dcterms:created>
  <dcterms:modified xsi:type="dcterms:W3CDTF">2026-06-16T04:22:13Z</dcterms:modified>
</cp:coreProperties>
</file>